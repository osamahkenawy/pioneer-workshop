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047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Architecture slide.
[Sources]
- Mwasalat Holdings logo and brand colors were taken from the user-provided brand guide image: /mnt/data/759d0b96-383d-41e7-bbb2-83220387c06a.png.
- Pioneer architecture concepts were interpreted from the user-provided architecture image in this conversation.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System Architecture slide.
[Sources]
- Architecture diagram and labels are based on the user-provided/open architecture image generated in this conversation: /mnt/data/a_clean_corporate_architecture_diagram_on_a_white.png.
- Mwasalat Holdings logo and brand colors were taken from the user-provided brand guide image: /mnt/data/759d0b96-383d-41e7-bbb2-83220387c06a.png.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Application screenshots slide.
[Sources]
- Customer Feedback screenshot: /mnt/data/166ac57d-94a8-4e0c-a500-ec9f895f6403.png.
- Job Assignment screenshot: /mnt/data/17e2129c-e655-4d26-9cc1-5c15a9c3f923.png.
- Customers screenshot: /mnt/data/9cd78574-4f1d-4ed2-8dfc-3610629a8e7e.png.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screenshots slide.
[Sources]
- Customers screenshot: /mnt/data/9cd78574-4f1d-4ed2-8dfc-3610629a8e7e.png.
- Job Assignment screenshot: /mnt/data/17e2129c-e655-4d26-9cc1-5c15a9c3f923.png.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 feedback screenshot slide.
[Sources]
- Customer Feedback screenshot: /mnt/data/166ac57d-94a8-4e0c-a500-ec9f895f6403.png.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3015-3745-5DEC-8083-A259AC1F1A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A5FD8A-254C-941A-3C9C-8269B160AB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83112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svg"/><Relationship Id="rId5" Type="http://schemas.openxmlformats.org/officeDocument/2006/relationships/image" Target="../media/image11.sv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9.png"/><Relationship Id="rId7" Type="http://schemas.openxmlformats.org/officeDocument/2006/relationships/image" Target="../media/image20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16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System Architecture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11109960" cy="0"/>
          </a:xfrm>
          <a:prstGeom prst="line">
            <a:avLst/>
          </a:prstGeom>
          <a:noFill/>
          <a:ln w="12700">
            <a:solidFill>
              <a:srgbClr val="DC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mwasalat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5" y="219456"/>
            <a:ext cx="2320290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018435"/>
            <a:ext cx="6537960" cy="106639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B6570"/>
                </a:solidFill>
              </a:rPr>
              <a:t>A secure, scalable platform designed to support client users, workshop staff, real-time operations, and customer feedback in one connected workflow.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726680" y="1051560"/>
            <a:ext cx="3703320" cy="1627632"/>
          </a:xfrm>
          <a:prstGeom prst="roundRect">
            <a:avLst>
              <a:gd name="adj" fmla="val 6742"/>
            </a:avLst>
          </a:prstGeom>
          <a:solidFill>
            <a:srgbClr val="F7F9F8"/>
          </a:solidFill>
          <a:ln w="12700">
            <a:solidFill>
              <a:srgbClr val="E7EE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001000" y="1307592"/>
            <a:ext cx="3154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5346"/>
                </a:solidFill>
              </a:rPr>
              <a:t>Client-facing message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001000" y="1627632"/>
            <a:ext cx="306324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20" dirty="0">
                <a:solidFill>
                  <a:srgbClr val="111827"/>
                </a:solidFill>
              </a:rPr>
              <a:t>Pioneer separates user access from core services through a high-availability entry point, helping the application remain reliable as demand grows.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914400" y="33375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DC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42416" y="3575304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Users &amp; Roles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749040" y="33375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005346"/>
          </a:solidFill>
          <a:ln w="15240">
            <a:solidFill>
              <a:srgbClr val="005346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877056" y="3575304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Load Balancer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0" y="33375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240">
            <a:solidFill>
              <a:srgbClr val="DC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711696" y="3575304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11827"/>
                </a:solidFill>
              </a:rPr>
              <a:t>Pioneer Platform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9418320" y="3337560"/>
            <a:ext cx="1874520" cy="1051560"/>
          </a:xfrm>
          <a:prstGeom prst="roundRect">
            <a:avLst>
              <a:gd name="adj" fmla="val 6957"/>
            </a:avLst>
          </a:prstGeom>
          <a:solidFill>
            <a:srgbClr val="7E35E8"/>
          </a:solidFill>
          <a:ln w="15240">
            <a:solidFill>
              <a:srgbClr val="7E35E8"/>
            </a:solidFill>
            <a:prstDash val="solid"/>
          </a:ln>
          <a:effectLst>
            <a:outerShdw blurRad="25400" dist="127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9546336" y="3575304"/>
            <a:ext cx="1618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Feedback Loop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2788920" y="3867912"/>
            <a:ext cx="960120" cy="0"/>
          </a:xfrm>
          <a:prstGeom prst="line">
            <a:avLst/>
          </a:prstGeom>
          <a:noFill/>
          <a:ln w="25400">
            <a:solidFill>
              <a:srgbClr val="00534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623560" y="3867912"/>
            <a:ext cx="960120" cy="0"/>
          </a:xfrm>
          <a:prstGeom prst="line">
            <a:avLst/>
          </a:prstGeom>
          <a:noFill/>
          <a:ln w="25400">
            <a:solidFill>
              <a:srgbClr val="00534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8458200" y="3867912"/>
            <a:ext cx="960120" cy="0"/>
          </a:xfrm>
          <a:prstGeom prst="line">
            <a:avLst/>
          </a:prstGeom>
          <a:noFill/>
          <a:ln w="25400">
            <a:solidFill>
              <a:srgbClr val="005346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22960" y="4645152"/>
            <a:ext cx="20574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dirty="0">
                <a:solidFill>
                  <a:srgbClr val="5B6570"/>
                </a:solidFill>
              </a:rPr>
              <a:t>Super Admin, Customer, Mechanic, and workshop staff access the platform.</a:t>
            </a:r>
            <a:endParaRPr lang="en-US" sz="1210" dirty="0"/>
          </a:p>
        </p:txBody>
      </p:sp>
      <p:sp>
        <p:nvSpPr>
          <p:cNvPr id="22" name="Text 19"/>
          <p:cNvSpPr/>
          <p:nvPr/>
        </p:nvSpPr>
        <p:spPr>
          <a:xfrm>
            <a:off x="3657600" y="4645152"/>
            <a:ext cx="20574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dirty="0">
                <a:solidFill>
                  <a:srgbClr val="5B6570"/>
                </a:solidFill>
              </a:rPr>
              <a:t>High-availability routing directs traffic to healthy services.</a:t>
            </a:r>
            <a:endParaRPr lang="en-US" sz="1210" dirty="0"/>
          </a:p>
        </p:txBody>
      </p:sp>
      <p:sp>
        <p:nvSpPr>
          <p:cNvPr id="23" name="Text 20"/>
          <p:cNvSpPr/>
          <p:nvPr/>
        </p:nvSpPr>
        <p:spPr>
          <a:xfrm>
            <a:off x="6492240" y="4645152"/>
            <a:ext cx="20574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dirty="0">
                <a:solidFill>
                  <a:srgbClr val="5B6570"/>
                </a:solidFill>
              </a:rPr>
              <a:t>Frontend, backend API, real-time layer, and survey services.</a:t>
            </a:r>
            <a:endParaRPr lang="en-US" sz="1210" dirty="0"/>
          </a:p>
        </p:txBody>
      </p:sp>
      <p:sp>
        <p:nvSpPr>
          <p:cNvPr id="24" name="Text 21"/>
          <p:cNvSpPr/>
          <p:nvPr/>
        </p:nvSpPr>
        <p:spPr>
          <a:xfrm>
            <a:off x="9326880" y="4645152"/>
            <a:ext cx="205740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1210" dirty="0">
                <a:solidFill>
                  <a:srgbClr val="5B6570"/>
                </a:solidFill>
              </a:rPr>
              <a:t>Post-service surveys capture customer feedback through QR/link.</a:t>
            </a:r>
            <a:endParaRPr lang="en-US" sz="1210" dirty="0"/>
          </a:p>
        </p:txBody>
      </p:sp>
      <p:sp>
        <p:nvSpPr>
          <p:cNvPr id="25" name="Shape 22"/>
          <p:cNvSpPr/>
          <p:nvPr/>
        </p:nvSpPr>
        <p:spPr>
          <a:xfrm>
            <a:off x="685800" y="5650992"/>
            <a:ext cx="10835640" cy="438912"/>
          </a:xfrm>
          <a:prstGeom prst="roundRect">
            <a:avLst>
              <a:gd name="adj" fmla="val 12500"/>
            </a:avLst>
          </a:prstGeom>
          <a:solidFill>
            <a:srgbClr val="F1F6F4"/>
          </a:solidFill>
          <a:ln w="12700">
            <a:solidFill>
              <a:srgbClr val="E1E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960120" y="5779008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005346"/>
                </a:solidFill>
              </a:rPr>
              <a:t>Designed for enterprise expectations: availability, scalability, role-based access, and measurable customer experience.</a:t>
            </a:r>
            <a:endParaRPr lang="en-US" sz="1240" dirty="0"/>
          </a:p>
        </p:txBody>
      </p:sp>
      <p:sp>
        <p:nvSpPr>
          <p:cNvPr id="27" name="Text 24"/>
          <p:cNvSpPr/>
          <p:nvPr/>
        </p:nvSpPr>
        <p:spPr>
          <a:xfrm>
            <a:off x="548640" y="64282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80"/>
                </a:solidFill>
              </a:rPr>
              <a:t>Pioneer Application | Client Showcase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48640" y="6291072"/>
            <a:ext cx="11109960" cy="0"/>
          </a:xfrm>
          <a:prstGeom prst="line">
            <a:avLst/>
          </a:prstGeom>
          <a:noFill/>
          <a:ln w="9525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System Architecture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11109960" cy="0"/>
          </a:xfrm>
          <a:prstGeom prst="line">
            <a:avLst/>
          </a:prstGeom>
          <a:noFill/>
          <a:ln w="12700">
            <a:solidFill>
              <a:srgbClr val="DC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mwasalat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5" y="219456"/>
            <a:ext cx="232029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9692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94360" y="1060705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570"/>
                </a:solidFill>
              </a:rPr>
              <a:t>How each user group reaches Pioneer services and how service interactions are routed inside the platform.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1874520"/>
            <a:ext cx="790956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8E4E0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mnt/data/a_clean_corporate_architecture_diagram_on_a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473" y="1956816"/>
            <a:ext cx="7181334" cy="404164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796528" y="1874520"/>
            <a:ext cx="2788920" cy="4206240"/>
          </a:xfrm>
          <a:prstGeom prst="roundRect">
            <a:avLst>
              <a:gd name="adj" fmla="val 2623"/>
            </a:avLst>
          </a:prstGeom>
          <a:solidFill>
            <a:srgbClr val="F7F9F8"/>
          </a:solidFill>
          <a:ln w="12700">
            <a:solidFill>
              <a:srgbClr val="E2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070848" y="215798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346"/>
                </a:solidFill>
              </a:rPr>
              <a:t>Client walkthrough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079992" y="2615184"/>
            <a:ext cx="320040" cy="320040"/>
          </a:xfrm>
          <a:prstGeom prst="ellipse">
            <a:avLst/>
          </a:prstGeom>
          <a:solidFill>
            <a:srgbClr val="005346"/>
          </a:solidFill>
          <a:ln w="12700">
            <a:solidFill>
              <a:srgbClr val="005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079992" y="267462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9509760" y="260604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827"/>
                </a:solidFill>
              </a:rPr>
              <a:t>Role-based access</a:t>
            </a:r>
            <a:endParaRPr lang="en-US" sz="1220" dirty="0"/>
          </a:p>
        </p:txBody>
      </p:sp>
      <p:sp>
        <p:nvSpPr>
          <p:cNvPr id="14" name="Text 10"/>
          <p:cNvSpPr/>
          <p:nvPr/>
        </p:nvSpPr>
        <p:spPr>
          <a:xfrm>
            <a:off x="9509760" y="2871216"/>
            <a:ext cx="1783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Separate entry points for customer, admin, mechanic, and workshop teams.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9079992" y="3438144"/>
            <a:ext cx="320040" cy="320040"/>
          </a:xfrm>
          <a:prstGeom prst="ellipse">
            <a:avLst/>
          </a:prstGeom>
          <a:solidFill>
            <a:srgbClr val="005346"/>
          </a:solidFill>
          <a:ln w="12700">
            <a:solidFill>
              <a:srgbClr val="005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9079992" y="349758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9509760" y="342900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827"/>
                </a:solidFill>
              </a:rPr>
              <a:t>High availability</a:t>
            </a:r>
            <a:endParaRPr lang="en-US" sz="1220" dirty="0"/>
          </a:p>
        </p:txBody>
      </p:sp>
      <p:sp>
        <p:nvSpPr>
          <p:cNvPr id="18" name="Text 14"/>
          <p:cNvSpPr/>
          <p:nvPr/>
        </p:nvSpPr>
        <p:spPr>
          <a:xfrm>
            <a:off x="9509760" y="3694176"/>
            <a:ext cx="1783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Traffic is routed through a load balancer before reaching core services.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9079992" y="4261104"/>
            <a:ext cx="320040" cy="320040"/>
          </a:xfrm>
          <a:prstGeom prst="ellipse">
            <a:avLst/>
          </a:prstGeom>
          <a:solidFill>
            <a:srgbClr val="005346"/>
          </a:solidFill>
          <a:ln w="12700">
            <a:solidFill>
              <a:srgbClr val="005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9079992" y="432054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9509760" y="425196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827"/>
                </a:solidFill>
              </a:rPr>
              <a:t>Core platform services</a:t>
            </a:r>
            <a:endParaRPr lang="en-US" sz="1220" dirty="0"/>
          </a:p>
        </p:txBody>
      </p:sp>
      <p:sp>
        <p:nvSpPr>
          <p:cNvPr id="22" name="Text 18"/>
          <p:cNvSpPr/>
          <p:nvPr/>
        </p:nvSpPr>
        <p:spPr>
          <a:xfrm>
            <a:off x="9509760" y="4517136"/>
            <a:ext cx="1783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Web/mobile frontend connects to backend API and real-time WebSocket layer.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9079992" y="5084064"/>
            <a:ext cx="320040" cy="320040"/>
          </a:xfrm>
          <a:prstGeom prst="ellipse">
            <a:avLst/>
          </a:prstGeom>
          <a:solidFill>
            <a:srgbClr val="005346"/>
          </a:solidFill>
          <a:ln w="12700">
            <a:solidFill>
              <a:srgbClr val="005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9079992" y="5143500"/>
            <a:ext cx="3200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9509760" y="50749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111827"/>
                </a:solidFill>
              </a:rPr>
              <a:t>Customer insight</a:t>
            </a:r>
            <a:endParaRPr lang="en-US" sz="1220" dirty="0"/>
          </a:p>
        </p:txBody>
      </p:sp>
      <p:sp>
        <p:nvSpPr>
          <p:cNvPr id="26" name="Text 22"/>
          <p:cNvSpPr/>
          <p:nvPr/>
        </p:nvSpPr>
        <p:spPr>
          <a:xfrm>
            <a:off x="9509760" y="5340096"/>
            <a:ext cx="1783080" cy="4023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5B6570"/>
                </a:solidFill>
              </a:rPr>
              <a:t>Post-service QR/link surveys feed directly into the Pioneer platform.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9079992" y="5870448"/>
            <a:ext cx="2139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5346"/>
                </a:solidFill>
              </a:rPr>
              <a:t>Reliable • Scalable • Measurable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548640" y="64282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80"/>
                </a:solidFill>
              </a:rPr>
              <a:t>Pioneer Application | Client Showcase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548640" y="6291072"/>
            <a:ext cx="11109960" cy="0"/>
          </a:xfrm>
          <a:prstGeom prst="line">
            <a:avLst/>
          </a:prstGeom>
          <a:noFill/>
          <a:ln w="9525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Application Screenshots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11109960" cy="0"/>
          </a:xfrm>
          <a:prstGeom prst="line">
            <a:avLst/>
          </a:prstGeom>
          <a:noFill/>
          <a:ln w="12700">
            <a:solidFill>
              <a:srgbClr val="DC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mwasalat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5" y="219456"/>
            <a:ext cx="232029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932688"/>
            <a:ext cx="10515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</a:rPr>
              <a:t>POS, ERP and CRM system descriptions and/or screenshots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570"/>
                </a:solidFill>
              </a:rPr>
              <a:t>Pioneer presents one enterprise workspace for customer records, work-order execution, mechanic assignment, and measurable customer experience.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76656" y="1993392"/>
            <a:ext cx="3063240" cy="388620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3970">
            <a:solidFill>
              <a:srgbClr val="DDE7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905256" y="21396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346"/>
                </a:solidFill>
              </a:rPr>
              <a:t>CRM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05256" y="2414016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D3748"/>
                </a:solidFill>
              </a:rPr>
              <a:t>Customer management</a:t>
            </a:r>
            <a:endParaRPr lang="en-US" sz="1080" dirty="0"/>
          </a:p>
        </p:txBody>
      </p:sp>
      <p:sp>
        <p:nvSpPr>
          <p:cNvPr id="10" name="Text 7"/>
          <p:cNvSpPr/>
          <p:nvPr/>
        </p:nvSpPr>
        <p:spPr>
          <a:xfrm>
            <a:off x="905256" y="2697480"/>
            <a:ext cx="2606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B6570"/>
                </a:solidFill>
              </a:rPr>
              <a:t>Centralized customer profiles, segments, contacts, locations, and account status.</a:t>
            </a:r>
            <a:endParaRPr lang="en-US" sz="1040" dirty="0"/>
          </a:p>
        </p:txBody>
      </p:sp>
      <p:sp>
        <p:nvSpPr>
          <p:cNvPr id="11" name="Shape 8"/>
          <p:cNvSpPr/>
          <p:nvPr/>
        </p:nvSpPr>
        <p:spPr>
          <a:xfrm>
            <a:off x="905256" y="3310128"/>
            <a:ext cx="2606040" cy="2240280"/>
          </a:xfrm>
          <a:prstGeom prst="roundRect">
            <a:avLst>
              <a:gd name="adj" fmla="val 1633"/>
            </a:avLst>
          </a:prstGeom>
          <a:solidFill>
            <a:srgbClr val="F7F9FB"/>
          </a:solidFill>
          <a:ln w="1016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/mnt/data/9cd78574-4f1d-4ed2-8dfc-3610629a8e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3796713"/>
            <a:ext cx="2514600" cy="125796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251960" y="1993392"/>
            <a:ext cx="3063240" cy="388620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3970">
            <a:solidFill>
              <a:srgbClr val="DDE7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4480560" y="21396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346"/>
                </a:solidFill>
              </a:rPr>
              <a:t>ERP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80560" y="2414016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D3748"/>
                </a:solidFill>
              </a:rPr>
              <a:t>Workshop operations</a:t>
            </a:r>
            <a:endParaRPr lang="en-US" sz="1080" dirty="0"/>
          </a:p>
        </p:txBody>
      </p:sp>
      <p:sp>
        <p:nvSpPr>
          <p:cNvPr id="16" name="Text 12"/>
          <p:cNvSpPr/>
          <p:nvPr/>
        </p:nvSpPr>
        <p:spPr>
          <a:xfrm>
            <a:off x="4480560" y="2697480"/>
            <a:ext cx="2606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B6570"/>
                </a:solidFill>
              </a:rPr>
              <a:t>Work order queue, job assignment, mechanic availability, and service execution tracking.</a:t>
            </a:r>
            <a:endParaRPr lang="en-US" sz="1040" dirty="0"/>
          </a:p>
        </p:txBody>
      </p:sp>
      <p:sp>
        <p:nvSpPr>
          <p:cNvPr id="17" name="Shape 13"/>
          <p:cNvSpPr/>
          <p:nvPr/>
        </p:nvSpPr>
        <p:spPr>
          <a:xfrm>
            <a:off x="4480560" y="3310128"/>
            <a:ext cx="2606040" cy="2240280"/>
          </a:xfrm>
          <a:prstGeom prst="roundRect">
            <a:avLst>
              <a:gd name="adj" fmla="val 1633"/>
            </a:avLst>
          </a:prstGeom>
          <a:solidFill>
            <a:srgbClr val="F7F9FB"/>
          </a:solidFill>
          <a:ln w="1016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/mnt/data/17e2129c-e655-4d26-9cc1-5c15a9c3f9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799710"/>
            <a:ext cx="2514600" cy="125197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7827264" y="1993392"/>
            <a:ext cx="3063240" cy="388620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3970">
            <a:solidFill>
              <a:srgbClr val="DDE7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8055864" y="2139696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346"/>
                </a:solidFill>
              </a:rPr>
              <a:t>Customer Experience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055864" y="2414016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b="1" dirty="0">
                <a:solidFill>
                  <a:srgbClr val="2D3748"/>
                </a:solidFill>
              </a:rPr>
              <a:t>Feedback analytics</a:t>
            </a:r>
            <a:endParaRPr lang="en-US" sz="1080" dirty="0"/>
          </a:p>
        </p:txBody>
      </p:sp>
      <p:sp>
        <p:nvSpPr>
          <p:cNvPr id="22" name="Text 17"/>
          <p:cNvSpPr/>
          <p:nvPr/>
        </p:nvSpPr>
        <p:spPr>
          <a:xfrm>
            <a:off x="8055864" y="2697480"/>
            <a:ext cx="26060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5B6570"/>
                </a:solidFill>
              </a:rPr>
              <a:t>NPS, score by question, and service-level insights for continuous improvement.</a:t>
            </a:r>
            <a:endParaRPr lang="en-US" sz="1040" dirty="0"/>
          </a:p>
        </p:txBody>
      </p:sp>
      <p:sp>
        <p:nvSpPr>
          <p:cNvPr id="23" name="Shape 18"/>
          <p:cNvSpPr/>
          <p:nvPr/>
        </p:nvSpPr>
        <p:spPr>
          <a:xfrm>
            <a:off x="8055864" y="3310128"/>
            <a:ext cx="2606040" cy="2240280"/>
          </a:xfrm>
          <a:prstGeom prst="roundRect">
            <a:avLst>
              <a:gd name="adj" fmla="val 1633"/>
            </a:avLst>
          </a:prstGeom>
          <a:solidFill>
            <a:srgbClr val="F7F9FB"/>
          </a:solidFill>
          <a:ln w="10160">
            <a:solidFill>
              <a:srgbClr val="E0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/mnt/data/166ac57d-94a8-4e0c-a500-ec9f895f64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3801372"/>
            <a:ext cx="2514600" cy="1248647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13232" y="6053328"/>
            <a:ext cx="10744200" cy="329184"/>
          </a:xfrm>
          <a:prstGeom prst="roundRect">
            <a:avLst>
              <a:gd name="adj" fmla="val 13889"/>
            </a:avLst>
          </a:prstGeom>
          <a:solidFill>
            <a:srgbClr val="F1F6F4"/>
          </a:solidFill>
          <a:ln w="12700">
            <a:solidFill>
              <a:srgbClr val="E1EB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932688" y="6153912"/>
            <a:ext cx="102870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5346"/>
                </a:solidFill>
              </a:rPr>
              <a:t>Business view: one platform covering operations, customer relationship management, and post-service feedback reporting.</a:t>
            </a:r>
            <a:endParaRPr lang="en-US" sz="1080" dirty="0"/>
          </a:p>
        </p:txBody>
      </p:sp>
      <p:sp>
        <p:nvSpPr>
          <p:cNvPr id="27" name="Text 21"/>
          <p:cNvSpPr/>
          <p:nvPr/>
        </p:nvSpPr>
        <p:spPr>
          <a:xfrm>
            <a:off x="548640" y="64282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80"/>
                </a:solidFill>
              </a:rPr>
              <a:t>Pioneer Application | Client Showcase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548640" y="6291072"/>
            <a:ext cx="11109960" cy="0"/>
          </a:xfrm>
          <a:prstGeom prst="line">
            <a:avLst/>
          </a:prstGeom>
          <a:noFill/>
          <a:ln w="9525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Application Screenshots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11109960" cy="0"/>
          </a:xfrm>
          <a:prstGeom prst="line">
            <a:avLst/>
          </a:prstGeom>
          <a:noFill/>
          <a:ln w="12700">
            <a:solidFill>
              <a:srgbClr val="DC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mwasalat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5" y="219456"/>
            <a:ext cx="232029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93268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Pioneer operational workspace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570"/>
                </a:solidFill>
              </a:rPr>
              <a:t>Screenshots demonstrate how client teams can manage customer accounts and coordinate work orders from a single application.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847088"/>
            <a:ext cx="544068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DE7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77824" y="199546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346"/>
                </a:solidFill>
              </a:rPr>
              <a:t>CRM: Customers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77824" y="2359152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0"/>
                </a:solidFill>
              </a:rPr>
              <a:t>Registered customer list, account segments, status, and export actions.</a:t>
            </a:r>
            <a:endParaRPr lang="en-US" sz="930" dirty="0"/>
          </a:p>
        </p:txBody>
      </p:sp>
      <p:pic>
        <p:nvPicPr>
          <p:cNvPr id="10" name="Image 1" descr="/mnt/data/9cd78574-4f1d-4ed2-8dfc-3610629a8e7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897970"/>
            <a:ext cx="5120640" cy="256167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291072" y="1847088"/>
            <a:ext cx="525780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DE7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6528816" y="1993392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5346"/>
                </a:solidFill>
              </a:rPr>
              <a:t>ERP: Job Assignment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6528816" y="2334335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5B6570"/>
                </a:solidFill>
              </a:rPr>
              <a:t>Work-order lanes, auto-assignment, mechanic availability, and progress status.</a:t>
            </a:r>
            <a:endParaRPr lang="en-US" sz="930" dirty="0"/>
          </a:p>
        </p:txBody>
      </p:sp>
      <p:pic>
        <p:nvPicPr>
          <p:cNvPr id="14" name="Image 2" descr="/mnt/data/17e2129c-e655-4d26-9cc1-5c15a9c3f92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2949599"/>
            <a:ext cx="4937760" cy="245841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48640" y="64282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80"/>
                </a:solidFill>
              </a:rPr>
              <a:t>Pioneer Application | Client Showcase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548640" y="6291072"/>
            <a:ext cx="11109960" cy="0"/>
          </a:xfrm>
          <a:prstGeom prst="line">
            <a:avLst/>
          </a:prstGeom>
          <a:noFill/>
          <a:ln w="9525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53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Application Screenshots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48640" y="713232"/>
            <a:ext cx="11109960" cy="0"/>
          </a:xfrm>
          <a:prstGeom prst="line">
            <a:avLst/>
          </a:prstGeom>
          <a:noFill/>
          <a:ln w="12700">
            <a:solidFill>
              <a:srgbClr val="DCE5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mwasalat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5" y="219456"/>
            <a:ext cx="2320290" cy="5303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" y="93268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11827"/>
                </a:solidFill>
              </a:rPr>
              <a:t>Customer feedback and service quality analytics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85800" y="141732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570"/>
                </a:solidFill>
              </a:rPr>
              <a:t>Pioneer converts post-service surveys into visible quality metrics for management and workshop teams.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847088"/>
            <a:ext cx="8001000" cy="4315968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DE7E3"/>
            </a:solidFill>
            <a:prstDash val="solid"/>
          </a:ln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/mnt/data/166ac57d-94a8-4e0c-a500-ec9f895f64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093444"/>
            <a:ext cx="7662672" cy="3804969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887968" y="1847088"/>
            <a:ext cx="2651760" cy="4315968"/>
          </a:xfrm>
          <a:prstGeom prst="roundRect">
            <a:avLst>
              <a:gd name="adj" fmla="val 2759"/>
            </a:avLst>
          </a:prstGeom>
          <a:solidFill>
            <a:srgbClr val="F7F9F8"/>
          </a:solidFill>
          <a:ln w="12700">
            <a:solidFill>
              <a:srgbClr val="E2EA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9144000" y="2148840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5346"/>
                </a:solidFill>
              </a:rPr>
              <a:t>What the client sees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9144000" y="2724912"/>
            <a:ext cx="164592" cy="164592"/>
          </a:xfrm>
          <a:prstGeom prst="ellipse">
            <a:avLst/>
          </a:prstGeom>
          <a:solidFill>
            <a:srgbClr val="005346"/>
          </a:solidFill>
          <a:ln w="12700">
            <a:solidFill>
              <a:srgbClr val="005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9464040" y="269748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11827"/>
                </a:solidFill>
              </a:rPr>
              <a:t>NPS breakdown</a:t>
            </a:r>
            <a:endParaRPr lang="en-US" sz="1130" dirty="0"/>
          </a:p>
        </p:txBody>
      </p:sp>
      <p:sp>
        <p:nvSpPr>
          <p:cNvPr id="13" name="Text 9"/>
          <p:cNvSpPr/>
          <p:nvPr/>
        </p:nvSpPr>
        <p:spPr>
          <a:xfrm>
            <a:off x="9464040" y="2962656"/>
            <a:ext cx="171907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0"/>
                </a:solidFill>
              </a:rPr>
              <a:t>Promoter, passive, and detractor distribution at a glance.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9144000" y="3685032"/>
            <a:ext cx="164592" cy="164592"/>
          </a:xfrm>
          <a:prstGeom prst="ellipse">
            <a:avLst/>
          </a:prstGeom>
          <a:solidFill>
            <a:srgbClr val="005346"/>
          </a:solidFill>
          <a:ln w="12700">
            <a:solidFill>
              <a:srgbClr val="005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9464040" y="3657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11827"/>
                </a:solidFill>
              </a:rPr>
              <a:t>Question-level scoring</a:t>
            </a:r>
            <a:endParaRPr lang="en-US" sz="1130" dirty="0"/>
          </a:p>
        </p:txBody>
      </p:sp>
      <p:sp>
        <p:nvSpPr>
          <p:cNvPr id="16" name="Text 12"/>
          <p:cNvSpPr/>
          <p:nvPr/>
        </p:nvSpPr>
        <p:spPr>
          <a:xfrm>
            <a:off x="9464040" y="3922776"/>
            <a:ext cx="171907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0"/>
                </a:solidFill>
              </a:rPr>
              <a:t>Highlights low-scoring service questions to prioritize action.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9144000" y="4645152"/>
            <a:ext cx="164592" cy="164592"/>
          </a:xfrm>
          <a:prstGeom prst="ellipse">
            <a:avLst/>
          </a:prstGeom>
          <a:solidFill>
            <a:srgbClr val="005346"/>
          </a:solidFill>
          <a:ln w="12700">
            <a:solidFill>
              <a:srgbClr val="005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9464040" y="46177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111827"/>
                </a:solidFill>
              </a:rPr>
              <a:t>Branch/service insight</a:t>
            </a:r>
            <a:endParaRPr lang="en-US" sz="1130" dirty="0"/>
          </a:p>
        </p:txBody>
      </p:sp>
      <p:sp>
        <p:nvSpPr>
          <p:cNvPr id="19" name="Text 15"/>
          <p:cNvSpPr/>
          <p:nvPr/>
        </p:nvSpPr>
        <p:spPr>
          <a:xfrm>
            <a:off x="9464040" y="4882896"/>
            <a:ext cx="171907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5B6570"/>
                </a:solidFill>
              </a:rPr>
              <a:t>Supports operational follow-up by location and service type.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9125712" y="5779008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005346"/>
                </a:solidFill>
              </a:rPr>
              <a:t>Business value: measurable customer experience and evidence-based service improvement.</a:t>
            </a:r>
            <a:endParaRPr lang="en-US" sz="970" dirty="0"/>
          </a:p>
        </p:txBody>
      </p:sp>
      <p:sp>
        <p:nvSpPr>
          <p:cNvPr id="21" name="Text 17"/>
          <p:cNvSpPr/>
          <p:nvPr/>
        </p:nvSpPr>
        <p:spPr>
          <a:xfrm>
            <a:off x="548640" y="6428232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A8580"/>
                </a:solidFill>
              </a:rPr>
              <a:t>Pioneer Application | Client Showcase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548640" y="6291072"/>
            <a:ext cx="11109960" cy="0"/>
          </a:xfrm>
          <a:prstGeom prst="line">
            <a:avLst/>
          </a:prstGeom>
          <a:noFill/>
          <a:ln w="9525">
            <a:solidFill>
              <a:srgbClr val="E8EEE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681229"/>
            <a:ext cx="49377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53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Customer Survey QR Code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79" y="595574"/>
            <a:ext cx="8193505" cy="100082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5E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Customer Feedback module provides a public QR/link that staff can print, display, or send directly to customers after service completion.</a:t>
            </a:r>
            <a:endParaRPr lang="en-US" sz="900" dirty="0"/>
          </a:p>
        </p:txBody>
      </p:sp>
      <p:pic>
        <p:nvPicPr>
          <p:cNvPr id="5" name="Image 0" descr="/mnt/data/mwasalat_log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5775" y="237744"/>
            <a:ext cx="2487100" cy="568480"/>
          </a:xfrm>
          <a:prstGeom prst="rect">
            <a:avLst/>
          </a:prstGeom>
        </p:spPr>
      </p:pic>
      <p:pic>
        <p:nvPicPr>
          <p:cNvPr id="7" name="Image 1" descr="/mnt/data/1ce14849-f50e-41d7-a9d1-54a7522e7ba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785826"/>
            <a:ext cx="7452360" cy="37801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78748" y="1943876"/>
            <a:ext cx="25340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53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Public survey link / QR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8278749" y="2263916"/>
            <a:ext cx="256032" cy="256032"/>
          </a:xfrm>
          <a:prstGeom prst="ellipse">
            <a:avLst/>
          </a:prstGeom>
          <a:solidFill>
            <a:srgbClr val="005346"/>
          </a:solidFill>
          <a:ln w="12700">
            <a:solidFill>
              <a:srgbClr val="005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7"/>
          <p:cNvSpPr/>
          <p:nvPr/>
        </p:nvSpPr>
        <p:spPr>
          <a:xfrm>
            <a:off x="8278749" y="2305064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8681085" y="224562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 Customer Feedback</a:t>
            </a:r>
            <a:endParaRPr lang="en-US" sz="1130" dirty="0"/>
          </a:p>
        </p:txBody>
      </p:sp>
      <p:sp>
        <p:nvSpPr>
          <p:cNvPr id="14" name="Text 9"/>
          <p:cNvSpPr/>
          <p:nvPr/>
        </p:nvSpPr>
        <p:spPr>
          <a:xfrm>
            <a:off x="8681085" y="2455940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E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 or service team opens the feedback dashboard after a completed service.</a:t>
            </a:r>
            <a:endParaRPr lang="en-US" sz="720" dirty="0"/>
          </a:p>
        </p:txBody>
      </p:sp>
      <p:sp>
        <p:nvSpPr>
          <p:cNvPr id="15" name="Shape 10"/>
          <p:cNvSpPr/>
          <p:nvPr/>
        </p:nvSpPr>
        <p:spPr>
          <a:xfrm>
            <a:off x="8278749" y="2958860"/>
            <a:ext cx="256032" cy="256032"/>
          </a:xfrm>
          <a:prstGeom prst="ellipse">
            <a:avLst/>
          </a:prstGeom>
          <a:solidFill>
            <a:srgbClr val="005346"/>
          </a:solidFill>
          <a:ln w="12700">
            <a:solidFill>
              <a:srgbClr val="005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8278749" y="3000008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700" dirty="0"/>
          </a:p>
        </p:txBody>
      </p:sp>
      <p:sp>
        <p:nvSpPr>
          <p:cNvPr id="17" name="Text 12"/>
          <p:cNvSpPr/>
          <p:nvPr/>
        </p:nvSpPr>
        <p:spPr>
          <a:xfrm>
            <a:off x="8681085" y="294057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Generate QR / public link</a:t>
            </a:r>
            <a:endParaRPr lang="en-US" sz="1130" dirty="0"/>
          </a:p>
        </p:txBody>
      </p:sp>
      <p:sp>
        <p:nvSpPr>
          <p:cNvPr id="18" name="Text 13"/>
          <p:cNvSpPr/>
          <p:nvPr/>
        </p:nvSpPr>
        <p:spPr>
          <a:xfrm>
            <a:off x="8681085" y="3150884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E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Pioneer displays a reusable QR code and URL for the workshop survey form.</a:t>
            </a:r>
            <a:endParaRPr lang="en-US" sz="720" dirty="0"/>
          </a:p>
        </p:txBody>
      </p:sp>
      <p:sp>
        <p:nvSpPr>
          <p:cNvPr id="19" name="Shape 14"/>
          <p:cNvSpPr/>
          <p:nvPr/>
        </p:nvSpPr>
        <p:spPr>
          <a:xfrm>
            <a:off x="8278749" y="3653804"/>
            <a:ext cx="256032" cy="256032"/>
          </a:xfrm>
          <a:prstGeom prst="ellipse">
            <a:avLst/>
          </a:prstGeom>
          <a:solidFill>
            <a:srgbClr val="005346"/>
          </a:solidFill>
          <a:ln w="12700">
            <a:solidFill>
              <a:srgbClr val="0053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8278749" y="3694952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700" dirty="0"/>
          </a:p>
        </p:txBody>
      </p:sp>
      <p:sp>
        <p:nvSpPr>
          <p:cNvPr id="21" name="Text 16"/>
          <p:cNvSpPr/>
          <p:nvPr/>
        </p:nvSpPr>
        <p:spPr>
          <a:xfrm>
            <a:off x="8681085" y="3635516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submits response</a:t>
            </a:r>
            <a:endParaRPr lang="en-US" sz="1130" dirty="0"/>
          </a:p>
        </p:txBody>
      </p:sp>
      <p:sp>
        <p:nvSpPr>
          <p:cNvPr id="22" name="Text 17"/>
          <p:cNvSpPr/>
          <p:nvPr/>
        </p:nvSpPr>
        <p:spPr>
          <a:xfrm>
            <a:off x="8681085" y="3845828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E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Responses feed back into NPS, CES and CSAT analytics for management review.</a:t>
            </a:r>
            <a:endParaRPr lang="en-US" sz="720" dirty="0"/>
          </a:p>
        </p:txBody>
      </p:sp>
      <p:sp>
        <p:nvSpPr>
          <p:cNvPr id="23" name="Text 18"/>
          <p:cNvSpPr/>
          <p:nvPr/>
        </p:nvSpPr>
        <p:spPr>
          <a:xfrm>
            <a:off x="411480" y="6565392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 dirty="0">
                <a:solidFill>
                  <a:srgbClr val="5E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Pioneer Application | Client Showcase</a:t>
            </a:r>
            <a:endParaRPr lang="en-US" sz="550" dirty="0"/>
          </a:p>
        </p:txBody>
      </p:sp>
      <p:sp>
        <p:nvSpPr>
          <p:cNvPr id="24" name="Text 19"/>
          <p:cNvSpPr/>
          <p:nvPr/>
        </p:nvSpPr>
        <p:spPr>
          <a:xfrm>
            <a:off x="11475720" y="6537960"/>
            <a:ext cx="228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 dirty="0">
                <a:solidFill>
                  <a:srgbClr val="5E6B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8E87F3F7-7675-DB6B-FEC9-2EBBB165C26D}"/>
              </a:ext>
            </a:extLst>
          </p:cNvPr>
          <p:cNvSpPr/>
          <p:nvPr/>
        </p:nvSpPr>
        <p:spPr>
          <a:xfrm>
            <a:off x="502920" y="365760"/>
            <a:ext cx="51042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053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4. Customer Mobile App</a:t>
            </a:r>
            <a:endParaRPr lang="en-US" sz="1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78CD7E0-7173-2721-8132-147642FA5871}"/>
              </a:ext>
            </a:extLst>
          </p:cNvPr>
          <p:cNvSpPr/>
          <p:nvPr/>
        </p:nvSpPr>
        <p:spPr>
          <a:xfrm>
            <a:off x="502920" y="753949"/>
            <a:ext cx="6172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4C5F7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service, bookings, and live request tracking in one mobile experience</a:t>
            </a:r>
            <a:endParaRPr lang="en-US" sz="880" dirty="0"/>
          </a:p>
        </p:txBody>
      </p:sp>
      <p:pic>
        <p:nvPicPr>
          <p:cNvPr id="7" name="Image 0" descr="/mnt/data/mwasalat_logo_crop.png">
            <a:extLst>
              <a:ext uri="{FF2B5EF4-FFF2-40B4-BE49-F238E27FC236}">
                <a16:creationId xmlns:a16="http://schemas.microsoft.com/office/drawing/2014/main" id="{01268EA5-C66C-272E-CC33-A9D40B573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5423" y="215830"/>
            <a:ext cx="2200275" cy="502920"/>
          </a:xfrm>
          <a:prstGeom prst="rect">
            <a:avLst/>
          </a:prstGeom>
        </p:spPr>
      </p:pic>
      <p:sp>
        <p:nvSpPr>
          <p:cNvPr id="9" name="Shape 4">
            <a:extLst>
              <a:ext uri="{FF2B5EF4-FFF2-40B4-BE49-F238E27FC236}">
                <a16:creationId xmlns:a16="http://schemas.microsoft.com/office/drawing/2014/main" id="{6CC64A09-3071-2D8C-19F5-ED6CA721E8B7}"/>
              </a:ext>
            </a:extLst>
          </p:cNvPr>
          <p:cNvSpPr/>
          <p:nvPr/>
        </p:nvSpPr>
        <p:spPr>
          <a:xfrm>
            <a:off x="457200" y="1124712"/>
            <a:ext cx="11274552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9EEF4"/>
            </a:solidFill>
            <a:prstDash val="solid"/>
          </a:ln>
          <a:effectLst>
            <a:outerShdw blurRad="38100" dist="13970" dir="2700000" algn="bl" rotWithShape="0">
              <a:srgbClr val="BFC8D6">
                <a:alpha val="1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/mnt/data/81ae5c8f-f92e-4b79-a1bc-17276f7672b6.png">
            <a:extLst>
              <a:ext uri="{FF2B5EF4-FFF2-40B4-BE49-F238E27FC236}">
                <a16:creationId xmlns:a16="http://schemas.microsoft.com/office/drawing/2014/main" id="{3766874B-063D-0082-6C38-8B8DF59F7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2298" y="1353312"/>
            <a:ext cx="7815211" cy="4178808"/>
          </a:xfrm>
          <a:prstGeom prst="rect">
            <a:avLst/>
          </a:prstGeom>
        </p:spPr>
      </p:pic>
      <p:sp>
        <p:nvSpPr>
          <p:cNvPr id="13" name="Shape 5">
            <a:extLst>
              <a:ext uri="{FF2B5EF4-FFF2-40B4-BE49-F238E27FC236}">
                <a16:creationId xmlns:a16="http://schemas.microsoft.com/office/drawing/2014/main" id="{0EA2C046-84D4-BB93-3525-48C77C132D47}"/>
              </a:ext>
            </a:extLst>
          </p:cNvPr>
          <p:cNvSpPr/>
          <p:nvPr/>
        </p:nvSpPr>
        <p:spPr>
          <a:xfrm>
            <a:off x="1005840" y="5671350"/>
            <a:ext cx="2880360" cy="347472"/>
          </a:xfrm>
          <a:prstGeom prst="roundRect">
            <a:avLst>
              <a:gd name="adj" fmla="val 21053"/>
            </a:avLst>
          </a:prstGeom>
          <a:solidFill>
            <a:srgbClr val="FDF0E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056DED31-10A2-2A8F-E6A2-2605FA0D9259}"/>
              </a:ext>
            </a:extLst>
          </p:cNvPr>
          <p:cNvSpPr/>
          <p:nvPr/>
        </p:nvSpPr>
        <p:spPr>
          <a:xfrm>
            <a:off x="1124712" y="576072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E539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Book Services</a:t>
            </a:r>
            <a:endParaRPr lang="en-US" sz="780" dirty="0"/>
          </a:p>
        </p:txBody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53853179-E68D-201D-E981-30BB26942733}"/>
              </a:ext>
            </a:extLst>
          </p:cNvPr>
          <p:cNvSpPr/>
          <p:nvPr/>
        </p:nvSpPr>
        <p:spPr>
          <a:xfrm>
            <a:off x="2286000" y="5760720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269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booking from vehicle profile</a:t>
            </a:r>
            <a:endParaRPr lang="en-US" sz="650" dirty="0"/>
          </a:p>
        </p:txBody>
      </p:sp>
      <p:sp>
        <p:nvSpPr>
          <p:cNvPr id="19" name="Shape 8">
            <a:extLst>
              <a:ext uri="{FF2B5EF4-FFF2-40B4-BE49-F238E27FC236}">
                <a16:creationId xmlns:a16="http://schemas.microsoft.com/office/drawing/2014/main" id="{0FC8405C-0971-D50E-958E-FCED94DD698F}"/>
              </a:ext>
            </a:extLst>
          </p:cNvPr>
          <p:cNvSpPr/>
          <p:nvPr/>
        </p:nvSpPr>
        <p:spPr>
          <a:xfrm>
            <a:off x="4462272" y="5650992"/>
            <a:ext cx="2880360" cy="347472"/>
          </a:xfrm>
          <a:prstGeom prst="roundRect">
            <a:avLst>
              <a:gd name="adj" fmla="val 21053"/>
            </a:avLst>
          </a:prstGeom>
          <a:solidFill>
            <a:srgbClr val="F1F7F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54448E30-636C-E00D-436C-BD27618DCEC5}"/>
              </a:ext>
            </a:extLst>
          </p:cNvPr>
          <p:cNvSpPr/>
          <p:nvPr/>
        </p:nvSpPr>
        <p:spPr>
          <a:xfrm>
            <a:off x="4581144" y="576072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53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Manage Requests</a:t>
            </a:r>
            <a:endParaRPr lang="en-US" sz="780" dirty="0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79F30128-4E70-8C8B-254A-9548C9B73B2F}"/>
              </a:ext>
            </a:extLst>
          </p:cNvPr>
          <p:cNvSpPr/>
          <p:nvPr/>
        </p:nvSpPr>
        <p:spPr>
          <a:xfrm>
            <a:off x="5742432" y="5760720"/>
            <a:ext cx="14447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269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Pending, ongoing, and past jobs</a:t>
            </a:r>
            <a:endParaRPr lang="en-US" sz="650" dirty="0"/>
          </a:p>
        </p:txBody>
      </p:sp>
      <p:sp>
        <p:nvSpPr>
          <p:cNvPr id="25" name="Shape 11">
            <a:extLst>
              <a:ext uri="{FF2B5EF4-FFF2-40B4-BE49-F238E27FC236}">
                <a16:creationId xmlns:a16="http://schemas.microsoft.com/office/drawing/2014/main" id="{D5FCFF98-1FDF-DC62-94C3-BB6CA63E4293}"/>
              </a:ext>
            </a:extLst>
          </p:cNvPr>
          <p:cNvSpPr/>
          <p:nvPr/>
        </p:nvSpPr>
        <p:spPr>
          <a:xfrm>
            <a:off x="7918704" y="5671350"/>
            <a:ext cx="2880360" cy="347472"/>
          </a:xfrm>
          <a:prstGeom prst="roundRect">
            <a:avLst>
              <a:gd name="adj" fmla="val 21053"/>
            </a:avLst>
          </a:prstGeom>
          <a:solidFill>
            <a:srgbClr val="EEF3F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EDC4AA3C-160A-5B8D-DFFC-F5602F10F165}"/>
              </a:ext>
            </a:extLst>
          </p:cNvPr>
          <p:cNvSpPr/>
          <p:nvPr/>
        </p:nvSpPr>
        <p:spPr>
          <a:xfrm>
            <a:off x="8037576" y="5760720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b="1" dirty="0">
                <a:solidFill>
                  <a:srgbClr val="00534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Progress</a:t>
            </a:r>
            <a:endParaRPr lang="en-US" sz="780" dirty="0"/>
          </a:p>
        </p:txBody>
      </p:sp>
      <p:sp>
        <p:nvSpPr>
          <p:cNvPr id="29" name="Text 13">
            <a:extLst>
              <a:ext uri="{FF2B5EF4-FFF2-40B4-BE49-F238E27FC236}">
                <a16:creationId xmlns:a16="http://schemas.microsoft.com/office/drawing/2014/main" id="{8CB12DCC-35F0-D07B-9E79-78A0F276FBB8}"/>
              </a:ext>
            </a:extLst>
          </p:cNvPr>
          <p:cNvSpPr/>
          <p:nvPr/>
        </p:nvSpPr>
        <p:spPr>
          <a:xfrm>
            <a:off x="9198864" y="5760720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dirty="0">
                <a:solidFill>
                  <a:srgbClr val="52697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Live updates from workshop teams</a:t>
            </a:r>
            <a:endParaRPr lang="en-US" sz="650" dirty="0"/>
          </a:p>
        </p:txBody>
      </p:sp>
      <p:sp>
        <p:nvSpPr>
          <p:cNvPr id="31" name="Text 14">
            <a:extLst>
              <a:ext uri="{FF2B5EF4-FFF2-40B4-BE49-F238E27FC236}">
                <a16:creationId xmlns:a16="http://schemas.microsoft.com/office/drawing/2014/main" id="{A883D7A5-B096-2F4C-3999-65C01D9E18DD}"/>
              </a:ext>
            </a:extLst>
          </p:cNvPr>
          <p:cNvSpPr/>
          <p:nvPr/>
        </p:nvSpPr>
        <p:spPr>
          <a:xfrm>
            <a:off x="502920" y="6492240"/>
            <a:ext cx="20116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7A87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Pioneer Car Service Center</a:t>
            </a:r>
            <a:endParaRPr lang="en-US" sz="700" dirty="0"/>
          </a:p>
        </p:txBody>
      </p:sp>
      <p:sp>
        <p:nvSpPr>
          <p:cNvPr id="33" name="Text 15">
            <a:extLst>
              <a:ext uri="{FF2B5EF4-FFF2-40B4-BE49-F238E27FC236}">
                <a16:creationId xmlns:a16="http://schemas.microsoft.com/office/drawing/2014/main" id="{F6A88995-9785-4C1E-EF98-392F902540BD}"/>
              </a:ext>
            </a:extLst>
          </p:cNvPr>
          <p:cNvSpPr/>
          <p:nvPr/>
        </p:nvSpPr>
        <p:spPr>
          <a:xfrm>
            <a:off x="9601200" y="6492240"/>
            <a:ext cx="2103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7A879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Prepared for Mwasalat Holdings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4178585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7653C2-6E62-F8A2-2A51-C1FAD808C0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203200"/>
            <a:ext cx="1270000" cy="7375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F36EF0A-AFF6-9E48-C587-8A3FDFA7E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2200" y="508000"/>
            <a:ext cx="1752600" cy="332036"/>
          </a:xfrm>
          <a:prstGeom prst="rect">
            <a:avLst/>
          </a:prstGeom>
        </p:spPr>
      </p:pic>
      <p:sp>
        <p:nvSpPr>
          <p:cNvPr id="401" name="A401"/>
          <p:cNvSpPr/>
          <p:nvPr/>
        </p:nvSpPr>
        <p:spPr>
          <a:xfrm>
            <a:off x="1752600" y="177800"/>
            <a:ext cx="7620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B2B26"/>
                </a:solidFill>
              </a:rPr>
              <a:t>Cybersecurity Operational Plan</a:t>
            </a:r>
          </a:p>
        </p:txBody>
      </p:sp>
      <p:sp>
        <p:nvSpPr>
          <p:cNvPr id="402" name="A402"/>
          <p:cNvSpPr/>
          <p:nvPr/>
        </p:nvSpPr>
        <p:spPr>
          <a:xfrm>
            <a:off x="1752600" y="635000"/>
            <a:ext cx="7874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b="0" dirty="0">
                <a:solidFill>
                  <a:srgbClr val="3E5570"/>
                </a:solidFill>
              </a:rPr>
              <a:t>What we operate today — executive summary &amp; control architecture</a:t>
            </a:r>
          </a:p>
        </p:txBody>
      </p:sp>
      <p:sp>
        <p:nvSpPr>
          <p:cNvPr id="403" name="A403"/>
          <p:cNvSpPr/>
          <p:nvPr/>
        </p:nvSpPr>
        <p:spPr>
          <a:xfrm>
            <a:off x="1752600" y="558800"/>
            <a:ext cx="736600" cy="38100"/>
          </a:xfrm>
          <a:prstGeom prst="rect">
            <a:avLst/>
          </a:prstGeom>
          <a:solidFill>
            <a:srgbClr val="059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4" name="A404"/>
          <p:cNvSpPr/>
          <p:nvPr/>
        </p:nvSpPr>
        <p:spPr>
          <a:xfrm>
            <a:off x="457200" y="990600"/>
            <a:ext cx="11277600" cy="8382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005346"/>
              </a:gs>
              <a:gs pos="100000">
                <a:srgbClr val="0A7D66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5" name="A405"/>
          <p:cNvSpPr/>
          <p:nvPr/>
        </p:nvSpPr>
        <p:spPr>
          <a:xfrm>
            <a:off x="457200" y="990600"/>
            <a:ext cx="50800" cy="838200"/>
          </a:xfrm>
          <a:prstGeom prst="rect">
            <a:avLst/>
          </a:prstGeom>
          <a:solidFill>
            <a:srgbClr val="059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6" name="A406"/>
          <p:cNvSpPr/>
          <p:nvPr/>
        </p:nvSpPr>
        <p:spPr>
          <a:xfrm>
            <a:off x="711200" y="1066800"/>
            <a:ext cx="3175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7FE3C9"/>
                </a:solidFill>
              </a:rPr>
              <a:t>EXECUTIVE SUMMARY</a:t>
            </a:r>
          </a:p>
        </p:txBody>
      </p:sp>
      <p:sp>
        <p:nvSpPr>
          <p:cNvPr id="407" name="A407"/>
          <p:cNvSpPr/>
          <p:nvPr/>
        </p:nvSpPr>
        <p:spPr>
          <a:xfrm>
            <a:off x="711200" y="1346200"/>
            <a:ext cx="33020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</a:rPr>
              <a:t>Enterprise-grade security operations, live today</a:t>
            </a:r>
          </a:p>
        </p:txBody>
      </p:sp>
      <p:sp>
        <p:nvSpPr>
          <p:cNvPr id="408" name="A408"/>
          <p:cNvSpPr/>
          <p:nvPr/>
        </p:nvSpPr>
        <p:spPr>
          <a:xfrm>
            <a:off x="4394200" y="1066800"/>
            <a:ext cx="2235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28</a:t>
            </a:r>
          </a:p>
        </p:txBody>
      </p:sp>
      <p:sp>
        <p:nvSpPr>
          <p:cNvPr id="409" name="A409"/>
          <p:cNvSpPr/>
          <p:nvPr/>
        </p:nvSpPr>
        <p:spPr>
          <a:xfrm>
            <a:off x="4394200" y="1397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b="0" dirty="0">
                <a:solidFill>
                  <a:srgbClr val="C7E7DF"/>
                </a:solidFill>
              </a:rPr>
              <a:t>Security controls operational</a:t>
            </a:r>
          </a:p>
        </p:txBody>
      </p:sp>
      <p:sp>
        <p:nvSpPr>
          <p:cNvPr id="410" name="A410"/>
          <p:cNvSpPr/>
          <p:nvPr/>
        </p:nvSpPr>
        <p:spPr>
          <a:xfrm>
            <a:off x="6629400" y="1168400"/>
            <a:ext cx="12700" cy="482600"/>
          </a:xfrm>
          <a:prstGeom prst="rect">
            <a:avLst/>
          </a:prstGeom>
          <a:solidFill>
            <a:srgbClr val="3F8C7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1" name="A411"/>
          <p:cNvSpPr/>
          <p:nvPr/>
        </p:nvSpPr>
        <p:spPr>
          <a:xfrm>
            <a:off x="6832600" y="1066800"/>
            <a:ext cx="2235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24×7</a:t>
            </a:r>
          </a:p>
        </p:txBody>
      </p:sp>
      <p:sp>
        <p:nvSpPr>
          <p:cNvPr id="412" name="A412"/>
          <p:cNvSpPr/>
          <p:nvPr/>
        </p:nvSpPr>
        <p:spPr>
          <a:xfrm>
            <a:off x="6832600" y="1397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b="0" dirty="0">
                <a:solidFill>
                  <a:srgbClr val="C7E7DF"/>
                </a:solidFill>
              </a:rPr>
              <a:t>SOC monitoring &amp; response</a:t>
            </a:r>
          </a:p>
        </p:txBody>
      </p:sp>
      <p:sp>
        <p:nvSpPr>
          <p:cNvPr id="413" name="A413"/>
          <p:cNvSpPr/>
          <p:nvPr/>
        </p:nvSpPr>
        <p:spPr>
          <a:xfrm>
            <a:off x="9067800" y="1168400"/>
            <a:ext cx="12700" cy="482600"/>
          </a:xfrm>
          <a:prstGeom prst="rect">
            <a:avLst/>
          </a:prstGeom>
          <a:solidFill>
            <a:srgbClr val="3F8C7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4" name="A414"/>
          <p:cNvSpPr/>
          <p:nvPr/>
        </p:nvSpPr>
        <p:spPr>
          <a:xfrm>
            <a:off x="9271000" y="1066800"/>
            <a:ext cx="2235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415" name="A415"/>
          <p:cNvSpPr/>
          <p:nvPr/>
        </p:nvSpPr>
        <p:spPr>
          <a:xfrm>
            <a:off x="9271000" y="1397000"/>
            <a:ext cx="2235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b="0" dirty="0">
                <a:solidFill>
                  <a:srgbClr val="C7E7DF"/>
                </a:solidFill>
              </a:rPr>
              <a:t>ISO frameworks certified</a:t>
            </a:r>
          </a:p>
        </p:txBody>
      </p:sp>
      <p:sp>
        <p:nvSpPr>
          <p:cNvPr id="416" name="A416"/>
          <p:cNvSpPr/>
          <p:nvPr/>
        </p:nvSpPr>
        <p:spPr>
          <a:xfrm>
            <a:off x="457200" y="1930400"/>
            <a:ext cx="3657600" cy="187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E5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17" name="A417"/>
          <p:cNvSpPr/>
          <p:nvPr/>
        </p:nvSpPr>
        <p:spPr>
          <a:xfrm>
            <a:off x="457200" y="1930400"/>
            <a:ext cx="3657600" cy="50800"/>
          </a:xfrm>
          <a:prstGeom prst="rect">
            <a:avLst/>
          </a:prstGeom>
          <a:solidFill>
            <a:srgbClr val="0053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8" name="A418"/>
          <p:cNvSpPr/>
          <p:nvPr/>
        </p:nvSpPr>
        <p:spPr>
          <a:xfrm>
            <a:off x="685800" y="2159000"/>
            <a:ext cx="431800" cy="431800"/>
          </a:xfrm>
          <a:prstGeom prst="ellipse">
            <a:avLst/>
          </a:prstGeom>
          <a:solidFill>
            <a:srgbClr val="0A7D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9" name="A419"/>
          <p:cNvSpPr/>
          <p:nvPr/>
        </p:nvSpPr>
        <p:spPr>
          <a:xfrm>
            <a:off x="1244600" y="2159000"/>
            <a:ext cx="2641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B26"/>
                </a:solidFill>
              </a:rPr>
              <a:t>Governance &amp; Risk</a:t>
            </a:r>
          </a:p>
        </p:txBody>
      </p:sp>
      <p:sp>
        <p:nvSpPr>
          <p:cNvPr id="420" name="A420"/>
          <p:cNvSpPr/>
          <p:nvPr/>
        </p:nvSpPr>
        <p:spPr>
          <a:xfrm>
            <a:off x="711200" y="2667000"/>
            <a:ext cx="32004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0534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Config &amp; control compliance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0534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Security policy &amp; procedure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0534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Security awareness &amp; training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0534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Continuous compliance baselines</a:t>
            </a:r>
          </a:p>
        </p:txBody>
      </p:sp>
      <p:sp>
        <p:nvSpPr>
          <p:cNvPr id="421" name="A421"/>
          <p:cNvSpPr/>
          <p:nvPr/>
        </p:nvSpPr>
        <p:spPr>
          <a:xfrm>
            <a:off x="4267200" y="1930400"/>
            <a:ext cx="3657600" cy="187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E5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2" name="A422"/>
          <p:cNvSpPr/>
          <p:nvPr/>
        </p:nvSpPr>
        <p:spPr>
          <a:xfrm>
            <a:off x="4267200" y="1930400"/>
            <a:ext cx="3657600" cy="50800"/>
          </a:xfrm>
          <a:prstGeom prst="rect">
            <a:avLst/>
          </a:prstGeom>
          <a:solidFill>
            <a:srgbClr val="059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3" name="A423"/>
          <p:cNvSpPr/>
          <p:nvPr/>
        </p:nvSpPr>
        <p:spPr>
          <a:xfrm>
            <a:off x="4495800" y="2159000"/>
            <a:ext cx="431800" cy="431800"/>
          </a:xfrm>
          <a:prstGeom prst="ellipse">
            <a:avLst/>
          </a:prstGeom>
          <a:solidFill>
            <a:srgbClr val="059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4" name="A424"/>
          <p:cNvSpPr/>
          <p:nvPr/>
        </p:nvSpPr>
        <p:spPr>
          <a:xfrm>
            <a:off x="5054600" y="2159000"/>
            <a:ext cx="2641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B26"/>
                </a:solidFill>
              </a:rPr>
              <a:t>Identity &amp; Access</a:t>
            </a:r>
          </a:p>
        </p:txBody>
      </p:sp>
      <p:sp>
        <p:nvSpPr>
          <p:cNvPr id="425" name="A425"/>
          <p:cNvSpPr/>
          <p:nvPr/>
        </p:nvSpPr>
        <p:spPr>
          <a:xfrm>
            <a:off x="4521200" y="2667000"/>
            <a:ext cx="32004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59CD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Authentication &amp; authorization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59CD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Privileged access management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59CD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Secrets management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59CD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Identity lifecycle management</a:t>
            </a:r>
          </a:p>
        </p:txBody>
      </p:sp>
      <p:sp>
        <p:nvSpPr>
          <p:cNvPr id="426" name="A426"/>
          <p:cNvSpPr/>
          <p:nvPr/>
        </p:nvSpPr>
        <p:spPr>
          <a:xfrm>
            <a:off x="8077200" y="1930400"/>
            <a:ext cx="3657600" cy="187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E5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27" name="A427"/>
          <p:cNvSpPr/>
          <p:nvPr/>
        </p:nvSpPr>
        <p:spPr>
          <a:xfrm>
            <a:off x="8077200" y="1930400"/>
            <a:ext cx="3657600" cy="50800"/>
          </a:xfrm>
          <a:prstGeom prst="rect">
            <a:avLst/>
          </a:prstGeom>
          <a:solidFill>
            <a:srgbClr val="2137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8" name="A428"/>
          <p:cNvSpPr/>
          <p:nvPr/>
        </p:nvSpPr>
        <p:spPr>
          <a:xfrm>
            <a:off x="8305800" y="2159000"/>
            <a:ext cx="431800" cy="431800"/>
          </a:xfrm>
          <a:prstGeom prst="ellipse">
            <a:avLst/>
          </a:prstGeom>
          <a:solidFill>
            <a:srgbClr val="345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9" name="A429"/>
          <p:cNvSpPr/>
          <p:nvPr/>
        </p:nvSpPr>
        <p:spPr>
          <a:xfrm>
            <a:off x="8864600" y="2159000"/>
            <a:ext cx="2641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B26"/>
                </a:solidFill>
              </a:rPr>
              <a:t>Data &amp; App Security</a:t>
            </a:r>
          </a:p>
        </p:txBody>
      </p:sp>
      <p:sp>
        <p:nvSpPr>
          <p:cNvPr id="430" name="A430"/>
          <p:cNvSpPr/>
          <p:nvPr/>
        </p:nvSpPr>
        <p:spPr>
          <a:xfrm>
            <a:off x="8331200" y="2667000"/>
            <a:ext cx="32004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21376B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Data classification &amp; DSAR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21376B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Encryption in transit &amp; at rest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21376B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API security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21376B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SAST &amp; DAST in the SDLC</a:t>
            </a:r>
          </a:p>
        </p:txBody>
      </p:sp>
      <p:sp>
        <p:nvSpPr>
          <p:cNvPr id="431" name="A431"/>
          <p:cNvSpPr/>
          <p:nvPr/>
        </p:nvSpPr>
        <p:spPr>
          <a:xfrm>
            <a:off x="457200" y="3911600"/>
            <a:ext cx="3657600" cy="187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E5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2" name="A432"/>
          <p:cNvSpPr/>
          <p:nvPr/>
        </p:nvSpPr>
        <p:spPr>
          <a:xfrm>
            <a:off x="457200" y="3911600"/>
            <a:ext cx="3657600" cy="50800"/>
          </a:xfrm>
          <a:prstGeom prst="rect">
            <a:avLst/>
          </a:prstGeom>
          <a:solidFill>
            <a:srgbClr val="0A7D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3" name="A433"/>
          <p:cNvSpPr/>
          <p:nvPr/>
        </p:nvSpPr>
        <p:spPr>
          <a:xfrm>
            <a:off x="685800" y="4140200"/>
            <a:ext cx="431800" cy="431800"/>
          </a:xfrm>
          <a:prstGeom prst="ellipse">
            <a:avLst/>
          </a:prstGeom>
          <a:solidFill>
            <a:srgbClr val="0A7D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4" name="A434"/>
          <p:cNvSpPr/>
          <p:nvPr/>
        </p:nvSpPr>
        <p:spPr>
          <a:xfrm>
            <a:off x="1244600" y="4140200"/>
            <a:ext cx="2641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B26"/>
                </a:solidFill>
              </a:rPr>
              <a:t>Infrastructure Security</a:t>
            </a:r>
          </a:p>
        </p:txBody>
      </p:sp>
      <p:sp>
        <p:nvSpPr>
          <p:cNvPr id="435" name="A435"/>
          <p:cNvSpPr/>
          <p:nvPr/>
        </p:nvSpPr>
        <p:spPr>
          <a:xfrm>
            <a:off x="711200" y="4648200"/>
            <a:ext cx="32004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A7D6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Endpoint &amp; network security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A7D6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Cloud security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A7D6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Email security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A7D6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Mobile device management</a:t>
            </a:r>
          </a:p>
        </p:txBody>
      </p:sp>
      <p:sp>
        <p:nvSpPr>
          <p:cNvPr id="436" name="A436"/>
          <p:cNvSpPr/>
          <p:nvPr/>
        </p:nvSpPr>
        <p:spPr>
          <a:xfrm>
            <a:off x="4267200" y="3911600"/>
            <a:ext cx="3657600" cy="187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E5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7" name="A437"/>
          <p:cNvSpPr/>
          <p:nvPr/>
        </p:nvSpPr>
        <p:spPr>
          <a:xfrm>
            <a:off x="4267200" y="3911600"/>
            <a:ext cx="3657600" cy="50800"/>
          </a:xfrm>
          <a:prstGeom prst="rect">
            <a:avLst/>
          </a:prstGeom>
          <a:solidFill>
            <a:srgbClr val="059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8" name="A438"/>
          <p:cNvSpPr/>
          <p:nvPr/>
        </p:nvSpPr>
        <p:spPr>
          <a:xfrm>
            <a:off x="4495800" y="4140200"/>
            <a:ext cx="431800" cy="431800"/>
          </a:xfrm>
          <a:prstGeom prst="ellipse">
            <a:avLst/>
          </a:prstGeom>
          <a:solidFill>
            <a:srgbClr val="059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39" name="A439"/>
          <p:cNvSpPr/>
          <p:nvPr/>
        </p:nvSpPr>
        <p:spPr>
          <a:xfrm>
            <a:off x="5054600" y="4140200"/>
            <a:ext cx="2641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B26"/>
                </a:solidFill>
              </a:rPr>
              <a:t>Threat Management</a:t>
            </a:r>
          </a:p>
        </p:txBody>
      </p:sp>
      <p:sp>
        <p:nvSpPr>
          <p:cNvPr id="440" name="A440"/>
          <p:cNvSpPr/>
          <p:nvPr/>
        </p:nvSpPr>
        <p:spPr>
          <a:xfrm>
            <a:off x="4521200" y="4648200"/>
            <a:ext cx="32004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59CD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Vulnerability management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59CD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Threat intelligence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59CD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Threat hunting &amp; deception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59CD6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AI-driven SOC</a:t>
            </a:r>
          </a:p>
        </p:txBody>
      </p:sp>
      <p:sp>
        <p:nvSpPr>
          <p:cNvPr id="441" name="A441"/>
          <p:cNvSpPr/>
          <p:nvPr/>
        </p:nvSpPr>
        <p:spPr>
          <a:xfrm>
            <a:off x="8077200" y="3911600"/>
            <a:ext cx="3657600" cy="18796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E5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2" name="A442"/>
          <p:cNvSpPr/>
          <p:nvPr/>
        </p:nvSpPr>
        <p:spPr>
          <a:xfrm>
            <a:off x="8077200" y="3911600"/>
            <a:ext cx="3657600" cy="50800"/>
          </a:xfrm>
          <a:prstGeom prst="rect">
            <a:avLst/>
          </a:prstGeom>
          <a:solidFill>
            <a:srgbClr val="2137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3" name="A443"/>
          <p:cNvSpPr/>
          <p:nvPr/>
        </p:nvSpPr>
        <p:spPr>
          <a:xfrm>
            <a:off x="8305800" y="4140200"/>
            <a:ext cx="431800" cy="431800"/>
          </a:xfrm>
          <a:prstGeom prst="ellipse">
            <a:avLst/>
          </a:prstGeom>
          <a:solidFill>
            <a:srgbClr val="34518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4" name="A444"/>
          <p:cNvSpPr/>
          <p:nvPr/>
        </p:nvSpPr>
        <p:spPr>
          <a:xfrm>
            <a:off x="8864600" y="4140200"/>
            <a:ext cx="26416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B26"/>
                </a:solidFill>
              </a:rPr>
              <a:t>Monitoring &amp; Response</a:t>
            </a:r>
          </a:p>
        </p:txBody>
      </p:sp>
      <p:sp>
        <p:nvSpPr>
          <p:cNvPr id="445" name="A445"/>
          <p:cNvSpPr/>
          <p:nvPr/>
        </p:nvSpPr>
        <p:spPr>
          <a:xfrm>
            <a:off x="8331200" y="4648200"/>
            <a:ext cx="32004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21376B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SIEM &amp; log management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21376B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SOAR automation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21376B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Incident response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21376B"/>
              </a:buClr>
              <a:buFont typeface="Arial"/>
              <a:buChar char="•"/>
            </a:pPr>
            <a:r>
              <a:rPr lang="en-US" sz="1400" b="0" dirty="0">
                <a:solidFill>
                  <a:srgbClr val="33453F"/>
                </a:solidFill>
              </a:rPr>
              <a:t>Threat analytics</a:t>
            </a:r>
          </a:p>
        </p:txBody>
      </p:sp>
      <p:sp>
        <p:nvSpPr>
          <p:cNvPr id="446" name="A446"/>
          <p:cNvSpPr/>
          <p:nvPr/>
        </p:nvSpPr>
        <p:spPr>
          <a:xfrm>
            <a:off x="457200" y="5892800"/>
            <a:ext cx="11277600" cy="660400"/>
          </a:xfrm>
          <a:prstGeom prst="roundRect">
            <a:avLst>
              <a:gd name="adj" fmla="val 9000"/>
            </a:avLst>
          </a:prstGeom>
          <a:solidFill>
            <a:srgbClr val="EBF3F1"/>
          </a:solidFill>
          <a:ln w="9525">
            <a:solidFill>
              <a:srgbClr val="C9DC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47" name="A447"/>
          <p:cNvSpPr/>
          <p:nvPr/>
        </p:nvSpPr>
        <p:spPr>
          <a:xfrm>
            <a:off x="660400" y="6057900"/>
            <a:ext cx="381000" cy="381000"/>
          </a:xfrm>
          <a:prstGeom prst="ellipse">
            <a:avLst/>
          </a:prstGeom>
          <a:solidFill>
            <a:srgbClr val="0A7D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8" name="A448"/>
          <p:cNvSpPr/>
          <p:nvPr/>
        </p:nvSpPr>
        <p:spPr>
          <a:xfrm>
            <a:off x="1168400" y="5969000"/>
            <a:ext cx="2819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05346"/>
                </a:solidFill>
              </a:rPr>
              <a:t>ISO CERTIFICATIONS</a:t>
            </a:r>
          </a:p>
        </p:txBody>
      </p:sp>
      <p:sp>
        <p:nvSpPr>
          <p:cNvPr id="449" name="A449"/>
          <p:cNvSpPr/>
          <p:nvPr/>
        </p:nvSpPr>
        <p:spPr>
          <a:xfrm>
            <a:off x="4191000" y="6007100"/>
            <a:ext cx="3632200" cy="431800"/>
          </a:xfrm>
          <a:prstGeom prst="roundRect">
            <a:avLst>
              <a:gd name="adj" fmla="val 9000"/>
            </a:avLst>
          </a:prstGeom>
          <a:solidFill>
            <a:srgbClr val="21376B"/>
          </a:solidFill>
          <a:ln>
            <a:noFill/>
          </a:ln>
        </p:spPr>
        <p:txBody>
          <a:bodyPr wrap="square" lIns="76200" tIns="0" rIns="762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ISO 27001  ·  Information Security</a:t>
            </a:r>
          </a:p>
        </p:txBody>
      </p:sp>
      <p:sp>
        <p:nvSpPr>
          <p:cNvPr id="450" name="A450"/>
          <p:cNvSpPr/>
          <p:nvPr/>
        </p:nvSpPr>
        <p:spPr>
          <a:xfrm>
            <a:off x="7899400" y="6007100"/>
            <a:ext cx="3632200" cy="431800"/>
          </a:xfrm>
          <a:prstGeom prst="roundRect">
            <a:avLst>
              <a:gd name="adj" fmla="val 9000"/>
            </a:avLst>
          </a:prstGeom>
          <a:solidFill>
            <a:srgbClr val="005346"/>
          </a:solidFill>
          <a:ln>
            <a:noFill/>
          </a:ln>
        </p:spPr>
        <p:txBody>
          <a:bodyPr wrap="square" lIns="76200" tIns="0" rIns="762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</a:rPr>
              <a:t>ISO 22301  ·  Business Continuity</a:t>
            </a:r>
          </a:p>
        </p:txBody>
      </p:sp>
      <p:pic>
        <p:nvPicPr>
          <p:cNvPr id="451" name="Graphic 451" descr="Governance and risk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4700" y="2247900"/>
            <a:ext cx="254000" cy="254000"/>
          </a:xfrm>
          <a:prstGeom prst="rect">
            <a:avLst/>
          </a:prstGeom>
        </p:spPr>
      </p:pic>
      <p:pic>
        <p:nvPicPr>
          <p:cNvPr id="452" name="Graphic 452" descr="Identity and acces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4700" y="2247900"/>
            <a:ext cx="254000" cy="254000"/>
          </a:xfrm>
          <a:prstGeom prst="rect">
            <a:avLst/>
          </a:prstGeom>
        </p:spPr>
      </p:pic>
      <p:pic>
        <p:nvPicPr>
          <p:cNvPr id="453" name="Graphic 453" descr="Data and application secur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94700" y="2247900"/>
            <a:ext cx="254000" cy="254000"/>
          </a:xfrm>
          <a:prstGeom prst="rect">
            <a:avLst/>
          </a:prstGeom>
        </p:spPr>
      </p:pic>
      <p:pic>
        <p:nvPicPr>
          <p:cNvPr id="454" name="Graphic 454" descr="Infrastructure securi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4700" y="4229100"/>
            <a:ext cx="254000" cy="254000"/>
          </a:xfrm>
          <a:prstGeom prst="rect">
            <a:avLst/>
          </a:prstGeom>
        </p:spPr>
      </p:pic>
      <p:pic>
        <p:nvPicPr>
          <p:cNvPr id="455" name="Graphic 455" descr="Threat management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84700" y="4229100"/>
            <a:ext cx="254000" cy="254000"/>
          </a:xfrm>
          <a:prstGeom prst="rect">
            <a:avLst/>
          </a:prstGeom>
        </p:spPr>
      </p:pic>
      <p:pic>
        <p:nvPicPr>
          <p:cNvPr id="456" name="Graphic 456" descr="Monitoring and respons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94700" y="4229100"/>
            <a:ext cx="254000" cy="254000"/>
          </a:xfrm>
          <a:prstGeom prst="rect">
            <a:avLst/>
          </a:prstGeom>
        </p:spPr>
      </p:pic>
      <p:pic>
        <p:nvPicPr>
          <p:cNvPr id="457" name="Graphic 457" descr="ISO certification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6600" y="6134100"/>
            <a:ext cx="228600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995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2BEC771-C5A4-36EE-722B-44AE20483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479" y="178734"/>
            <a:ext cx="1270000" cy="737502"/>
          </a:xfrm>
          <a:prstGeom prst="rect">
            <a:avLst/>
          </a:prstGeom>
        </p:spPr>
      </p:pic>
      <p:sp>
        <p:nvSpPr>
          <p:cNvPr id="3" name="B501">
            <a:extLst>
              <a:ext uri="{FF2B5EF4-FFF2-40B4-BE49-F238E27FC236}">
                <a16:creationId xmlns:a16="http://schemas.microsoft.com/office/drawing/2014/main" id="{FB26F72B-5EED-F000-7F66-BEBBEEEA0AFF}"/>
              </a:ext>
            </a:extLst>
          </p:cNvPr>
          <p:cNvSpPr/>
          <p:nvPr/>
        </p:nvSpPr>
        <p:spPr>
          <a:xfrm>
            <a:off x="1651479" y="102534"/>
            <a:ext cx="7874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B2B26"/>
                </a:solidFill>
              </a:rPr>
              <a:t>Certified Team &amp; Pioneer Platform</a:t>
            </a:r>
          </a:p>
        </p:txBody>
      </p:sp>
      <p:sp>
        <p:nvSpPr>
          <p:cNvPr id="4" name="B502">
            <a:extLst>
              <a:ext uri="{FF2B5EF4-FFF2-40B4-BE49-F238E27FC236}">
                <a16:creationId xmlns:a16="http://schemas.microsoft.com/office/drawing/2014/main" id="{A816B60C-F909-1C11-FE9E-D16041E2AB3B}"/>
              </a:ext>
            </a:extLst>
          </p:cNvPr>
          <p:cNvSpPr/>
          <p:nvPr/>
        </p:nvSpPr>
        <p:spPr>
          <a:xfrm>
            <a:off x="1651479" y="559734"/>
            <a:ext cx="8128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b="0" dirty="0">
                <a:solidFill>
                  <a:srgbClr val="3E5570"/>
                </a:solidFill>
              </a:rPr>
              <a:t>Accredited people, a proven vendor stack and one operational console</a:t>
            </a:r>
          </a:p>
        </p:txBody>
      </p:sp>
      <p:sp>
        <p:nvSpPr>
          <p:cNvPr id="5" name="B503">
            <a:extLst>
              <a:ext uri="{FF2B5EF4-FFF2-40B4-BE49-F238E27FC236}">
                <a16:creationId xmlns:a16="http://schemas.microsoft.com/office/drawing/2014/main" id="{E56124A6-856E-F712-53F9-52497F0BCE8C}"/>
              </a:ext>
            </a:extLst>
          </p:cNvPr>
          <p:cNvSpPr/>
          <p:nvPr/>
        </p:nvSpPr>
        <p:spPr>
          <a:xfrm>
            <a:off x="1651479" y="483534"/>
            <a:ext cx="736600" cy="38100"/>
          </a:xfrm>
          <a:prstGeom prst="rect">
            <a:avLst/>
          </a:prstGeom>
          <a:solidFill>
            <a:srgbClr val="059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" name="B504">
            <a:extLst>
              <a:ext uri="{FF2B5EF4-FFF2-40B4-BE49-F238E27FC236}">
                <a16:creationId xmlns:a16="http://schemas.microsoft.com/office/drawing/2014/main" id="{D756735D-1965-F412-DAD5-428283A36D23}"/>
              </a:ext>
            </a:extLst>
          </p:cNvPr>
          <p:cNvSpPr/>
          <p:nvPr/>
        </p:nvSpPr>
        <p:spPr>
          <a:xfrm>
            <a:off x="356079" y="991534"/>
            <a:ext cx="5511800" cy="660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E5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" name="B505">
            <a:extLst>
              <a:ext uri="{FF2B5EF4-FFF2-40B4-BE49-F238E27FC236}">
                <a16:creationId xmlns:a16="http://schemas.microsoft.com/office/drawing/2014/main" id="{82A10877-8C81-EF92-8417-2A1461F42949}"/>
              </a:ext>
            </a:extLst>
          </p:cNvPr>
          <p:cNvSpPr/>
          <p:nvPr/>
        </p:nvSpPr>
        <p:spPr>
          <a:xfrm>
            <a:off x="356079" y="991534"/>
            <a:ext cx="50800" cy="660400"/>
          </a:xfrm>
          <a:prstGeom prst="rect">
            <a:avLst/>
          </a:prstGeom>
          <a:solidFill>
            <a:srgbClr val="0053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8" name="B506">
            <a:extLst>
              <a:ext uri="{FF2B5EF4-FFF2-40B4-BE49-F238E27FC236}">
                <a16:creationId xmlns:a16="http://schemas.microsoft.com/office/drawing/2014/main" id="{10E31BA9-0C10-D962-4C11-F5AC3D2A5B0C}"/>
              </a:ext>
            </a:extLst>
          </p:cNvPr>
          <p:cNvSpPr/>
          <p:nvPr/>
        </p:nvSpPr>
        <p:spPr>
          <a:xfrm>
            <a:off x="584679" y="1105834"/>
            <a:ext cx="431800" cy="431800"/>
          </a:xfrm>
          <a:prstGeom prst="ellipse">
            <a:avLst/>
          </a:prstGeom>
          <a:solidFill>
            <a:srgbClr val="00534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B507">
            <a:extLst>
              <a:ext uri="{FF2B5EF4-FFF2-40B4-BE49-F238E27FC236}">
                <a16:creationId xmlns:a16="http://schemas.microsoft.com/office/drawing/2014/main" id="{B7EDA876-C403-A52F-7C70-098E99AD1FB1}"/>
              </a:ext>
            </a:extLst>
          </p:cNvPr>
          <p:cNvSpPr/>
          <p:nvPr/>
        </p:nvSpPr>
        <p:spPr>
          <a:xfrm>
            <a:off x="1143479" y="1080434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B26"/>
                </a:solidFill>
              </a:rPr>
              <a:t>Accredited security team</a:t>
            </a:r>
          </a:p>
        </p:txBody>
      </p:sp>
      <p:sp>
        <p:nvSpPr>
          <p:cNvPr id="10" name="B508">
            <a:extLst>
              <a:ext uri="{FF2B5EF4-FFF2-40B4-BE49-F238E27FC236}">
                <a16:creationId xmlns:a16="http://schemas.microsoft.com/office/drawing/2014/main" id="{05D46A0A-8307-8576-1E94-B8A5DC6836DB}"/>
              </a:ext>
            </a:extLst>
          </p:cNvPr>
          <p:cNvSpPr/>
          <p:nvPr/>
        </p:nvSpPr>
        <p:spPr>
          <a:xfrm>
            <a:off x="1143479" y="133443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200" b="0" dirty="0">
                <a:solidFill>
                  <a:srgbClr val="46564F"/>
                </a:solidFill>
              </a:rPr>
              <a:t>Certified across audit, defence and offensive security</a:t>
            </a:r>
          </a:p>
        </p:txBody>
      </p:sp>
      <p:sp>
        <p:nvSpPr>
          <p:cNvPr id="11" name="B509">
            <a:extLst>
              <a:ext uri="{FF2B5EF4-FFF2-40B4-BE49-F238E27FC236}">
                <a16:creationId xmlns:a16="http://schemas.microsoft.com/office/drawing/2014/main" id="{594607E3-6E27-3BDF-CBA8-5D97F6980A42}"/>
              </a:ext>
            </a:extLst>
          </p:cNvPr>
          <p:cNvSpPr/>
          <p:nvPr/>
        </p:nvSpPr>
        <p:spPr>
          <a:xfrm>
            <a:off x="388188" y="1728134"/>
            <a:ext cx="5511800" cy="660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E5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" name="B510">
            <a:extLst>
              <a:ext uri="{FF2B5EF4-FFF2-40B4-BE49-F238E27FC236}">
                <a16:creationId xmlns:a16="http://schemas.microsoft.com/office/drawing/2014/main" id="{D13856C5-E839-305D-4E87-26AB4A093971}"/>
              </a:ext>
            </a:extLst>
          </p:cNvPr>
          <p:cNvSpPr/>
          <p:nvPr/>
        </p:nvSpPr>
        <p:spPr>
          <a:xfrm>
            <a:off x="356079" y="1702734"/>
            <a:ext cx="50800" cy="660400"/>
          </a:xfrm>
          <a:prstGeom prst="rect">
            <a:avLst/>
          </a:prstGeom>
          <a:solidFill>
            <a:srgbClr val="059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B511">
            <a:extLst>
              <a:ext uri="{FF2B5EF4-FFF2-40B4-BE49-F238E27FC236}">
                <a16:creationId xmlns:a16="http://schemas.microsoft.com/office/drawing/2014/main" id="{82F8BE21-F6A2-7CFE-D118-03155EF751D0}"/>
              </a:ext>
            </a:extLst>
          </p:cNvPr>
          <p:cNvSpPr/>
          <p:nvPr/>
        </p:nvSpPr>
        <p:spPr>
          <a:xfrm>
            <a:off x="584679" y="1817034"/>
            <a:ext cx="431800" cy="431800"/>
          </a:xfrm>
          <a:prstGeom prst="ellipse">
            <a:avLst/>
          </a:prstGeom>
          <a:solidFill>
            <a:srgbClr val="059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B512">
            <a:extLst>
              <a:ext uri="{FF2B5EF4-FFF2-40B4-BE49-F238E27FC236}">
                <a16:creationId xmlns:a16="http://schemas.microsoft.com/office/drawing/2014/main" id="{B97624B1-448D-22D8-1844-1C36C327F1A6}"/>
              </a:ext>
            </a:extLst>
          </p:cNvPr>
          <p:cNvSpPr/>
          <p:nvPr/>
        </p:nvSpPr>
        <p:spPr>
          <a:xfrm>
            <a:off x="1143479" y="1791634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B26"/>
                </a:solidFill>
              </a:rPr>
              <a:t>Full enterprise stack</a:t>
            </a:r>
          </a:p>
        </p:txBody>
      </p:sp>
      <p:sp>
        <p:nvSpPr>
          <p:cNvPr id="15" name="B513">
            <a:extLst>
              <a:ext uri="{FF2B5EF4-FFF2-40B4-BE49-F238E27FC236}">
                <a16:creationId xmlns:a16="http://schemas.microsoft.com/office/drawing/2014/main" id="{9E1BE7B3-8BA0-3164-3B9E-8A21C18740CD}"/>
              </a:ext>
            </a:extLst>
          </p:cNvPr>
          <p:cNvSpPr/>
          <p:nvPr/>
        </p:nvSpPr>
        <p:spPr>
          <a:xfrm>
            <a:off x="1143479" y="204563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200" b="0" dirty="0">
                <a:solidFill>
                  <a:srgbClr val="46564F"/>
                </a:solidFill>
              </a:rPr>
              <a:t>Palo Alto, F5, Cisco, Microsoft and VMware certified</a:t>
            </a:r>
          </a:p>
        </p:txBody>
      </p:sp>
      <p:sp>
        <p:nvSpPr>
          <p:cNvPr id="16" name="B514">
            <a:extLst>
              <a:ext uri="{FF2B5EF4-FFF2-40B4-BE49-F238E27FC236}">
                <a16:creationId xmlns:a16="http://schemas.microsoft.com/office/drawing/2014/main" id="{9B975925-C740-5F2E-E037-9D1010F15A27}"/>
              </a:ext>
            </a:extLst>
          </p:cNvPr>
          <p:cNvSpPr/>
          <p:nvPr/>
        </p:nvSpPr>
        <p:spPr>
          <a:xfrm>
            <a:off x="356079" y="2413934"/>
            <a:ext cx="5511800" cy="660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E5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7" name="B515">
            <a:extLst>
              <a:ext uri="{FF2B5EF4-FFF2-40B4-BE49-F238E27FC236}">
                <a16:creationId xmlns:a16="http://schemas.microsoft.com/office/drawing/2014/main" id="{DEFF2F2C-4447-EADF-26CE-C221518221C0}"/>
              </a:ext>
            </a:extLst>
          </p:cNvPr>
          <p:cNvSpPr/>
          <p:nvPr/>
        </p:nvSpPr>
        <p:spPr>
          <a:xfrm>
            <a:off x="356079" y="2413934"/>
            <a:ext cx="50800" cy="660400"/>
          </a:xfrm>
          <a:prstGeom prst="rect">
            <a:avLst/>
          </a:prstGeom>
          <a:solidFill>
            <a:srgbClr val="0A7D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8" name="B516">
            <a:extLst>
              <a:ext uri="{FF2B5EF4-FFF2-40B4-BE49-F238E27FC236}">
                <a16:creationId xmlns:a16="http://schemas.microsoft.com/office/drawing/2014/main" id="{EA9C34AB-8DA5-66BC-EA0C-B90BE2E0DAB9}"/>
              </a:ext>
            </a:extLst>
          </p:cNvPr>
          <p:cNvSpPr/>
          <p:nvPr/>
        </p:nvSpPr>
        <p:spPr>
          <a:xfrm>
            <a:off x="584679" y="2528234"/>
            <a:ext cx="431800" cy="431800"/>
          </a:xfrm>
          <a:prstGeom prst="ellipse">
            <a:avLst/>
          </a:prstGeom>
          <a:solidFill>
            <a:srgbClr val="0A7D6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B517">
            <a:extLst>
              <a:ext uri="{FF2B5EF4-FFF2-40B4-BE49-F238E27FC236}">
                <a16:creationId xmlns:a16="http://schemas.microsoft.com/office/drawing/2014/main" id="{A9D5CDDB-3E99-9A7D-6CE4-064EA2A78F9B}"/>
              </a:ext>
            </a:extLst>
          </p:cNvPr>
          <p:cNvSpPr/>
          <p:nvPr/>
        </p:nvSpPr>
        <p:spPr>
          <a:xfrm>
            <a:off x="1143479" y="2502834"/>
            <a:ext cx="4572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B2B26"/>
                </a:solidFill>
              </a:rPr>
              <a:t>AI-assisted operations</a:t>
            </a:r>
          </a:p>
        </p:txBody>
      </p:sp>
      <p:sp>
        <p:nvSpPr>
          <p:cNvPr id="20" name="B518">
            <a:extLst>
              <a:ext uri="{FF2B5EF4-FFF2-40B4-BE49-F238E27FC236}">
                <a16:creationId xmlns:a16="http://schemas.microsoft.com/office/drawing/2014/main" id="{DE085546-7DB5-444C-EE9E-7476DE6C1CEA}"/>
              </a:ext>
            </a:extLst>
          </p:cNvPr>
          <p:cNvSpPr/>
          <p:nvPr/>
        </p:nvSpPr>
        <p:spPr>
          <a:xfrm>
            <a:off x="1143479" y="2756834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200" b="0" dirty="0">
                <a:solidFill>
                  <a:srgbClr val="46564F"/>
                </a:solidFill>
              </a:rPr>
              <a:t>Automation embedded in triage, enrichment and reporting</a:t>
            </a:r>
          </a:p>
        </p:txBody>
      </p:sp>
      <p:sp>
        <p:nvSpPr>
          <p:cNvPr id="21" name="B519">
            <a:extLst>
              <a:ext uri="{FF2B5EF4-FFF2-40B4-BE49-F238E27FC236}">
                <a16:creationId xmlns:a16="http://schemas.microsoft.com/office/drawing/2014/main" id="{3730CC35-1C1D-2A6E-2ACB-7E570FBB4B3F}"/>
              </a:ext>
            </a:extLst>
          </p:cNvPr>
          <p:cNvSpPr/>
          <p:nvPr/>
        </p:nvSpPr>
        <p:spPr>
          <a:xfrm>
            <a:off x="356079" y="3175934"/>
            <a:ext cx="330200" cy="330200"/>
          </a:xfrm>
          <a:prstGeom prst="ellipse">
            <a:avLst/>
          </a:prstGeom>
          <a:solidFill>
            <a:srgbClr val="2137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B520">
            <a:extLst>
              <a:ext uri="{FF2B5EF4-FFF2-40B4-BE49-F238E27FC236}">
                <a16:creationId xmlns:a16="http://schemas.microsoft.com/office/drawing/2014/main" id="{E9C7ADA7-2A2C-086F-5A3B-E145195BB6E9}"/>
              </a:ext>
            </a:extLst>
          </p:cNvPr>
          <p:cNvSpPr/>
          <p:nvPr/>
        </p:nvSpPr>
        <p:spPr>
          <a:xfrm>
            <a:off x="787879" y="3150534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1376B"/>
                </a:solidFill>
              </a:rPr>
              <a:t>TEAM CERTIFICATIONS · 13</a:t>
            </a:r>
          </a:p>
        </p:txBody>
      </p:sp>
      <p:sp>
        <p:nvSpPr>
          <p:cNvPr id="23" name="B521">
            <a:extLst>
              <a:ext uri="{FF2B5EF4-FFF2-40B4-BE49-F238E27FC236}">
                <a16:creationId xmlns:a16="http://schemas.microsoft.com/office/drawing/2014/main" id="{08179E28-0813-0D52-5BD0-FB42233F3BA8}"/>
              </a:ext>
            </a:extLst>
          </p:cNvPr>
          <p:cNvSpPr/>
          <p:nvPr/>
        </p:nvSpPr>
        <p:spPr>
          <a:xfrm>
            <a:off x="356079" y="3582334"/>
            <a:ext cx="1752600" cy="355600"/>
          </a:xfrm>
          <a:prstGeom prst="roundRect">
            <a:avLst>
              <a:gd name="adj" fmla="val 9000"/>
            </a:avLst>
          </a:prstGeom>
          <a:solidFill>
            <a:srgbClr val="EBF3F1"/>
          </a:solidFill>
          <a:ln w="9525">
            <a:solidFill>
              <a:srgbClr val="C9DCD7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453C"/>
                </a:solidFill>
              </a:rPr>
              <a:t>CISA</a:t>
            </a:r>
          </a:p>
        </p:txBody>
      </p:sp>
      <p:sp>
        <p:nvSpPr>
          <p:cNvPr id="24" name="B522">
            <a:extLst>
              <a:ext uri="{FF2B5EF4-FFF2-40B4-BE49-F238E27FC236}">
                <a16:creationId xmlns:a16="http://schemas.microsoft.com/office/drawing/2014/main" id="{62188B0C-236D-61BA-8F3C-15B1938C765F}"/>
              </a:ext>
            </a:extLst>
          </p:cNvPr>
          <p:cNvSpPr/>
          <p:nvPr/>
        </p:nvSpPr>
        <p:spPr>
          <a:xfrm>
            <a:off x="2235679" y="3582334"/>
            <a:ext cx="1752600" cy="355600"/>
          </a:xfrm>
          <a:prstGeom prst="roundRect">
            <a:avLst>
              <a:gd name="adj" fmla="val 9000"/>
            </a:avLst>
          </a:prstGeom>
          <a:solidFill>
            <a:srgbClr val="EBF3F1"/>
          </a:solidFill>
          <a:ln w="9525">
            <a:solidFill>
              <a:srgbClr val="C9DCD7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453C"/>
                </a:solidFill>
              </a:rPr>
              <a:t>CompTIA CySA+</a:t>
            </a:r>
          </a:p>
        </p:txBody>
      </p:sp>
      <p:sp>
        <p:nvSpPr>
          <p:cNvPr id="25" name="B523">
            <a:extLst>
              <a:ext uri="{FF2B5EF4-FFF2-40B4-BE49-F238E27FC236}">
                <a16:creationId xmlns:a16="http://schemas.microsoft.com/office/drawing/2014/main" id="{055C7D1F-36ED-39A6-FCD5-6D6F72DBEB84}"/>
              </a:ext>
            </a:extLst>
          </p:cNvPr>
          <p:cNvSpPr/>
          <p:nvPr/>
        </p:nvSpPr>
        <p:spPr>
          <a:xfrm>
            <a:off x="4115279" y="3582334"/>
            <a:ext cx="1752600" cy="355600"/>
          </a:xfrm>
          <a:prstGeom prst="roundRect">
            <a:avLst>
              <a:gd name="adj" fmla="val 9000"/>
            </a:avLst>
          </a:prstGeom>
          <a:solidFill>
            <a:srgbClr val="EBF3F1"/>
          </a:solidFill>
          <a:ln w="9525">
            <a:solidFill>
              <a:srgbClr val="C9DCD7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453C"/>
                </a:solidFill>
              </a:rPr>
              <a:t>CEH</a:t>
            </a:r>
          </a:p>
        </p:txBody>
      </p:sp>
      <p:sp>
        <p:nvSpPr>
          <p:cNvPr id="26" name="B524">
            <a:extLst>
              <a:ext uri="{FF2B5EF4-FFF2-40B4-BE49-F238E27FC236}">
                <a16:creationId xmlns:a16="http://schemas.microsoft.com/office/drawing/2014/main" id="{6EFEA275-F5B8-49E7-3292-6D8297F9D3BB}"/>
              </a:ext>
            </a:extLst>
          </p:cNvPr>
          <p:cNvSpPr/>
          <p:nvPr/>
        </p:nvSpPr>
        <p:spPr>
          <a:xfrm>
            <a:off x="356079" y="3988734"/>
            <a:ext cx="1752600" cy="355600"/>
          </a:xfrm>
          <a:prstGeom prst="roundRect">
            <a:avLst>
              <a:gd name="adj" fmla="val 9000"/>
            </a:avLst>
          </a:prstGeom>
          <a:solidFill>
            <a:srgbClr val="EBF3F1"/>
          </a:solidFill>
          <a:ln w="9525">
            <a:solidFill>
              <a:srgbClr val="C9DCD7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453C"/>
                </a:solidFill>
              </a:rPr>
              <a:t>CompTIA Security+</a:t>
            </a:r>
          </a:p>
        </p:txBody>
      </p:sp>
      <p:sp>
        <p:nvSpPr>
          <p:cNvPr id="27" name="B525">
            <a:extLst>
              <a:ext uri="{FF2B5EF4-FFF2-40B4-BE49-F238E27FC236}">
                <a16:creationId xmlns:a16="http://schemas.microsoft.com/office/drawing/2014/main" id="{FE3E7E1D-5392-2E95-2023-FAB174125FC6}"/>
              </a:ext>
            </a:extLst>
          </p:cNvPr>
          <p:cNvSpPr/>
          <p:nvPr/>
        </p:nvSpPr>
        <p:spPr>
          <a:xfrm>
            <a:off x="2235679" y="3988734"/>
            <a:ext cx="1752600" cy="355600"/>
          </a:xfrm>
          <a:prstGeom prst="roundRect">
            <a:avLst>
              <a:gd name="adj" fmla="val 9000"/>
            </a:avLst>
          </a:prstGeom>
          <a:solidFill>
            <a:srgbClr val="EBF3F1"/>
          </a:solidFill>
          <a:ln w="9525">
            <a:solidFill>
              <a:srgbClr val="C9DCD7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453C"/>
                </a:solidFill>
              </a:rPr>
              <a:t>Palo Alto Firewall</a:t>
            </a:r>
          </a:p>
        </p:txBody>
      </p:sp>
      <p:sp>
        <p:nvSpPr>
          <p:cNvPr id="28" name="B526">
            <a:extLst>
              <a:ext uri="{FF2B5EF4-FFF2-40B4-BE49-F238E27FC236}">
                <a16:creationId xmlns:a16="http://schemas.microsoft.com/office/drawing/2014/main" id="{003E000D-E5C4-8CB6-BD6D-7572395F22C6}"/>
              </a:ext>
            </a:extLst>
          </p:cNvPr>
          <p:cNvSpPr/>
          <p:nvPr/>
        </p:nvSpPr>
        <p:spPr>
          <a:xfrm>
            <a:off x="4115279" y="3988734"/>
            <a:ext cx="1752600" cy="355600"/>
          </a:xfrm>
          <a:prstGeom prst="roundRect">
            <a:avLst>
              <a:gd name="adj" fmla="val 9000"/>
            </a:avLst>
          </a:prstGeom>
          <a:solidFill>
            <a:srgbClr val="EBF3F1"/>
          </a:solidFill>
          <a:ln w="9525">
            <a:solidFill>
              <a:srgbClr val="C9DCD7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453C"/>
                </a:solidFill>
              </a:rPr>
              <a:t>F5 Load Balancer</a:t>
            </a:r>
          </a:p>
        </p:txBody>
      </p:sp>
      <p:sp>
        <p:nvSpPr>
          <p:cNvPr id="29" name="B527">
            <a:extLst>
              <a:ext uri="{FF2B5EF4-FFF2-40B4-BE49-F238E27FC236}">
                <a16:creationId xmlns:a16="http://schemas.microsoft.com/office/drawing/2014/main" id="{DF0AB0F1-218F-E9AA-A8FE-9498C0F2B4CF}"/>
              </a:ext>
            </a:extLst>
          </p:cNvPr>
          <p:cNvSpPr/>
          <p:nvPr/>
        </p:nvSpPr>
        <p:spPr>
          <a:xfrm>
            <a:off x="356079" y="4395134"/>
            <a:ext cx="1752600" cy="355600"/>
          </a:xfrm>
          <a:prstGeom prst="roundRect">
            <a:avLst>
              <a:gd name="adj" fmla="val 9000"/>
            </a:avLst>
          </a:prstGeom>
          <a:solidFill>
            <a:srgbClr val="EBF3F1"/>
          </a:solidFill>
          <a:ln w="9525">
            <a:solidFill>
              <a:srgbClr val="C9DCD7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453C"/>
                </a:solidFill>
              </a:rPr>
              <a:t>WAF</a:t>
            </a:r>
          </a:p>
        </p:txBody>
      </p:sp>
      <p:sp>
        <p:nvSpPr>
          <p:cNvPr id="30" name="B528">
            <a:extLst>
              <a:ext uri="{FF2B5EF4-FFF2-40B4-BE49-F238E27FC236}">
                <a16:creationId xmlns:a16="http://schemas.microsoft.com/office/drawing/2014/main" id="{A21F09FB-6039-A0FB-F972-821C9E4DE780}"/>
              </a:ext>
            </a:extLst>
          </p:cNvPr>
          <p:cNvSpPr/>
          <p:nvPr/>
        </p:nvSpPr>
        <p:spPr>
          <a:xfrm>
            <a:off x="2235679" y="4395134"/>
            <a:ext cx="1752600" cy="355600"/>
          </a:xfrm>
          <a:prstGeom prst="roundRect">
            <a:avLst>
              <a:gd name="adj" fmla="val 9000"/>
            </a:avLst>
          </a:prstGeom>
          <a:solidFill>
            <a:srgbClr val="EBF3F1"/>
          </a:solidFill>
          <a:ln w="9525">
            <a:solidFill>
              <a:srgbClr val="C9DCD7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453C"/>
                </a:solidFill>
              </a:rPr>
              <a:t>Cisco Certified</a:t>
            </a:r>
          </a:p>
        </p:txBody>
      </p:sp>
      <p:sp>
        <p:nvSpPr>
          <p:cNvPr id="31" name="B529">
            <a:extLst>
              <a:ext uri="{FF2B5EF4-FFF2-40B4-BE49-F238E27FC236}">
                <a16:creationId xmlns:a16="http://schemas.microsoft.com/office/drawing/2014/main" id="{829F53DC-1581-F183-ADE4-0D4FD615C808}"/>
              </a:ext>
            </a:extLst>
          </p:cNvPr>
          <p:cNvSpPr/>
          <p:nvPr/>
        </p:nvSpPr>
        <p:spPr>
          <a:xfrm>
            <a:off x="4115279" y="4395134"/>
            <a:ext cx="1752600" cy="355600"/>
          </a:xfrm>
          <a:prstGeom prst="roundRect">
            <a:avLst>
              <a:gd name="adj" fmla="val 9000"/>
            </a:avLst>
          </a:prstGeom>
          <a:solidFill>
            <a:srgbClr val="EBF3F1"/>
          </a:solidFill>
          <a:ln w="9525">
            <a:solidFill>
              <a:srgbClr val="C9DCD7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453C"/>
                </a:solidFill>
              </a:rPr>
              <a:t>Microsoft Certified</a:t>
            </a:r>
          </a:p>
        </p:txBody>
      </p:sp>
      <p:sp>
        <p:nvSpPr>
          <p:cNvPr id="32" name="B530">
            <a:extLst>
              <a:ext uri="{FF2B5EF4-FFF2-40B4-BE49-F238E27FC236}">
                <a16:creationId xmlns:a16="http://schemas.microsoft.com/office/drawing/2014/main" id="{77CAF8AB-07FB-21D7-766C-AE402C885144}"/>
              </a:ext>
            </a:extLst>
          </p:cNvPr>
          <p:cNvSpPr/>
          <p:nvPr/>
        </p:nvSpPr>
        <p:spPr>
          <a:xfrm>
            <a:off x="356079" y="4801534"/>
            <a:ext cx="1752600" cy="355600"/>
          </a:xfrm>
          <a:prstGeom prst="roundRect">
            <a:avLst>
              <a:gd name="adj" fmla="val 9000"/>
            </a:avLst>
          </a:prstGeom>
          <a:solidFill>
            <a:srgbClr val="EBF3F1"/>
          </a:solidFill>
          <a:ln w="9525">
            <a:solidFill>
              <a:srgbClr val="C9DCD7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453C"/>
                </a:solidFill>
              </a:rPr>
              <a:t>VMware Certified</a:t>
            </a:r>
          </a:p>
        </p:txBody>
      </p:sp>
      <p:sp>
        <p:nvSpPr>
          <p:cNvPr id="33" name="B531">
            <a:extLst>
              <a:ext uri="{FF2B5EF4-FFF2-40B4-BE49-F238E27FC236}">
                <a16:creationId xmlns:a16="http://schemas.microsoft.com/office/drawing/2014/main" id="{A8756A47-9AC6-FF4E-BA9A-073B6146534E}"/>
              </a:ext>
            </a:extLst>
          </p:cNvPr>
          <p:cNvSpPr/>
          <p:nvPr/>
        </p:nvSpPr>
        <p:spPr>
          <a:xfrm>
            <a:off x="2235679" y="4801534"/>
            <a:ext cx="1752600" cy="355600"/>
          </a:xfrm>
          <a:prstGeom prst="roundRect">
            <a:avLst>
              <a:gd name="adj" fmla="val 9000"/>
            </a:avLst>
          </a:prstGeom>
          <a:solidFill>
            <a:srgbClr val="EBF3F1"/>
          </a:solidFill>
          <a:ln w="9525">
            <a:solidFill>
              <a:srgbClr val="C9DCD7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453C"/>
                </a:solidFill>
              </a:rPr>
              <a:t>DLP Administrator</a:t>
            </a:r>
          </a:p>
        </p:txBody>
      </p:sp>
      <p:sp>
        <p:nvSpPr>
          <p:cNvPr id="34" name="B532">
            <a:extLst>
              <a:ext uri="{FF2B5EF4-FFF2-40B4-BE49-F238E27FC236}">
                <a16:creationId xmlns:a16="http://schemas.microsoft.com/office/drawing/2014/main" id="{69B25C54-FFE5-D651-159D-BF434B5A19BE}"/>
              </a:ext>
            </a:extLst>
          </p:cNvPr>
          <p:cNvSpPr/>
          <p:nvPr/>
        </p:nvSpPr>
        <p:spPr>
          <a:xfrm>
            <a:off x="4115279" y="4801534"/>
            <a:ext cx="1752600" cy="355600"/>
          </a:xfrm>
          <a:prstGeom prst="roundRect">
            <a:avLst>
              <a:gd name="adj" fmla="val 9000"/>
            </a:avLst>
          </a:prstGeom>
          <a:solidFill>
            <a:srgbClr val="EBF3F1"/>
          </a:solidFill>
          <a:ln w="9525">
            <a:solidFill>
              <a:srgbClr val="C9DCD7"/>
            </a:solidFill>
          </a:ln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4453C"/>
                </a:solidFill>
              </a:rPr>
              <a:t>CICM</a:t>
            </a:r>
          </a:p>
        </p:txBody>
      </p:sp>
      <p:sp>
        <p:nvSpPr>
          <p:cNvPr id="35" name="B533">
            <a:extLst>
              <a:ext uri="{FF2B5EF4-FFF2-40B4-BE49-F238E27FC236}">
                <a16:creationId xmlns:a16="http://schemas.microsoft.com/office/drawing/2014/main" id="{0463D03C-9288-F26B-3A00-5F99740C2B10}"/>
              </a:ext>
            </a:extLst>
          </p:cNvPr>
          <p:cNvSpPr/>
          <p:nvPr/>
        </p:nvSpPr>
        <p:spPr>
          <a:xfrm>
            <a:off x="356079" y="5207934"/>
            <a:ext cx="5511800" cy="355600"/>
          </a:xfrm>
          <a:prstGeom prst="roundRect">
            <a:avLst>
              <a:gd name="adj" fmla="val 9000"/>
            </a:avLst>
          </a:prstGeom>
          <a:gradFill>
            <a:gsLst>
              <a:gs pos="0">
                <a:srgbClr val="005346"/>
              </a:gs>
              <a:gs pos="100000">
                <a:srgbClr val="0A7D66"/>
              </a:gs>
            </a:gsLst>
            <a:lin ang="0" scaled="1"/>
          </a:gradFill>
          <a:ln>
            <a:noFill/>
          </a:ln>
        </p:spPr>
        <p:txBody>
          <a:bodyPr wrap="square" lIns="76200" tIns="0" rIns="76200" bIns="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AI Automation · orchestration &amp; response engineering</a:t>
            </a:r>
          </a:p>
        </p:txBody>
      </p:sp>
      <p:sp>
        <p:nvSpPr>
          <p:cNvPr id="36" name="B534">
            <a:extLst>
              <a:ext uri="{FF2B5EF4-FFF2-40B4-BE49-F238E27FC236}">
                <a16:creationId xmlns:a16="http://schemas.microsoft.com/office/drawing/2014/main" id="{86902A7F-BCAC-8D3D-441D-6A5E334DAA32}"/>
              </a:ext>
            </a:extLst>
          </p:cNvPr>
          <p:cNvSpPr/>
          <p:nvPr/>
        </p:nvSpPr>
        <p:spPr>
          <a:xfrm>
            <a:off x="356079" y="5715934"/>
            <a:ext cx="5511800" cy="762000"/>
          </a:xfrm>
          <a:prstGeom prst="roundRect">
            <a:avLst>
              <a:gd name="adj" fmla="val 9000"/>
            </a:avLst>
          </a:prstGeom>
          <a:solidFill>
            <a:srgbClr val="F2F8F6"/>
          </a:solidFill>
          <a:ln w="9525">
            <a:solidFill>
              <a:srgbClr val="C9DCD7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B535">
            <a:extLst>
              <a:ext uri="{FF2B5EF4-FFF2-40B4-BE49-F238E27FC236}">
                <a16:creationId xmlns:a16="http://schemas.microsoft.com/office/drawing/2014/main" id="{81318C49-B3AC-A600-4B0F-4CDF4664CB30}"/>
              </a:ext>
            </a:extLst>
          </p:cNvPr>
          <p:cNvSpPr/>
          <p:nvPr/>
        </p:nvSpPr>
        <p:spPr>
          <a:xfrm>
            <a:off x="559279" y="5817534"/>
            <a:ext cx="5105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139700" indent="-139700" algn="l">
              <a:lnSpc>
                <a:spcPct val="100000"/>
              </a:lnSpc>
              <a:buClr>
                <a:srgbClr val="005346"/>
              </a:buClr>
              <a:buFont typeface="Arial"/>
              <a:buChar char="•"/>
            </a:pPr>
            <a:r>
              <a:rPr lang="en-US" sz="1200" b="0" dirty="0">
                <a:solidFill>
                  <a:srgbClr val="14453C"/>
                </a:solidFill>
              </a:rPr>
              <a:t>Certifications maintained and re-assessed every cycle</a:t>
            </a:r>
          </a:p>
          <a:p>
            <a:pPr marL="139700" indent="-139700" algn="l">
              <a:lnSpc>
                <a:spcPct val="100000"/>
              </a:lnSpc>
              <a:spcBef>
                <a:spcPts val="300"/>
              </a:spcBef>
              <a:buClr>
                <a:srgbClr val="005346"/>
              </a:buClr>
              <a:buFont typeface="Arial"/>
              <a:buChar char="•"/>
            </a:pPr>
            <a:r>
              <a:rPr lang="en-US" sz="1200" b="0" dirty="0">
                <a:solidFill>
                  <a:srgbClr val="14453C"/>
                </a:solidFill>
              </a:rPr>
              <a:t>Coverage across offensive, defensive and compliance domains</a:t>
            </a:r>
          </a:p>
        </p:txBody>
      </p:sp>
      <p:sp>
        <p:nvSpPr>
          <p:cNvPr id="38" name="B536">
            <a:extLst>
              <a:ext uri="{FF2B5EF4-FFF2-40B4-BE49-F238E27FC236}">
                <a16:creationId xmlns:a16="http://schemas.microsoft.com/office/drawing/2014/main" id="{8DD70919-0167-C334-5CE1-5B14FD9474BF}"/>
              </a:ext>
            </a:extLst>
          </p:cNvPr>
          <p:cNvSpPr/>
          <p:nvPr/>
        </p:nvSpPr>
        <p:spPr>
          <a:xfrm>
            <a:off x="6071079" y="991534"/>
            <a:ext cx="5562600" cy="3200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E5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B537">
            <a:extLst>
              <a:ext uri="{FF2B5EF4-FFF2-40B4-BE49-F238E27FC236}">
                <a16:creationId xmlns:a16="http://schemas.microsoft.com/office/drawing/2014/main" id="{BFA908DD-16FD-FE0C-4FB1-C8FB15B1004F}"/>
              </a:ext>
            </a:extLst>
          </p:cNvPr>
          <p:cNvSpPr/>
          <p:nvPr/>
        </p:nvSpPr>
        <p:spPr>
          <a:xfrm>
            <a:off x="6071079" y="991534"/>
            <a:ext cx="5562600" cy="50800"/>
          </a:xfrm>
          <a:prstGeom prst="rect">
            <a:avLst/>
          </a:prstGeom>
          <a:solidFill>
            <a:srgbClr val="059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B538">
            <a:extLst>
              <a:ext uri="{FF2B5EF4-FFF2-40B4-BE49-F238E27FC236}">
                <a16:creationId xmlns:a16="http://schemas.microsoft.com/office/drawing/2014/main" id="{54CF4ED9-3E8F-BC00-F71B-ED5D556CA990}"/>
              </a:ext>
            </a:extLst>
          </p:cNvPr>
          <p:cNvSpPr/>
          <p:nvPr/>
        </p:nvSpPr>
        <p:spPr>
          <a:xfrm>
            <a:off x="6248879" y="1118534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B2B26"/>
                </a:solidFill>
              </a:rPr>
              <a:t>Pioneer Security Platform</a:t>
            </a:r>
          </a:p>
        </p:txBody>
      </p:sp>
      <p:sp>
        <p:nvSpPr>
          <p:cNvPr id="41" name="B539">
            <a:extLst>
              <a:ext uri="{FF2B5EF4-FFF2-40B4-BE49-F238E27FC236}">
                <a16:creationId xmlns:a16="http://schemas.microsoft.com/office/drawing/2014/main" id="{9A10F8C8-451E-F328-160E-DD917BFDE26C}"/>
              </a:ext>
            </a:extLst>
          </p:cNvPr>
          <p:cNvSpPr/>
          <p:nvPr/>
        </p:nvSpPr>
        <p:spPr>
          <a:xfrm>
            <a:off x="6248879" y="1397934"/>
            <a:ext cx="5207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400" b="0" dirty="0">
                <a:solidFill>
                  <a:srgbClr val="46564F"/>
                </a:solidFill>
              </a:rPr>
              <a:t>Single console for detection, response, risk and reporting</a:t>
            </a:r>
          </a:p>
        </p:txBody>
      </p:sp>
      <p:sp>
        <p:nvSpPr>
          <p:cNvPr id="42" name="B540">
            <a:extLst>
              <a:ext uri="{FF2B5EF4-FFF2-40B4-BE49-F238E27FC236}">
                <a16:creationId xmlns:a16="http://schemas.microsoft.com/office/drawing/2014/main" id="{E97B3F41-FB75-5C45-8501-71855F9F8F82}"/>
              </a:ext>
            </a:extLst>
          </p:cNvPr>
          <p:cNvSpPr/>
          <p:nvPr/>
        </p:nvSpPr>
        <p:spPr>
          <a:xfrm>
            <a:off x="6071079" y="4318934"/>
            <a:ext cx="2705100" cy="2159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E5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3" name="B541">
            <a:extLst>
              <a:ext uri="{FF2B5EF4-FFF2-40B4-BE49-F238E27FC236}">
                <a16:creationId xmlns:a16="http://schemas.microsoft.com/office/drawing/2014/main" id="{36232DE0-91B6-0634-ED57-D28D584D9D2B}"/>
              </a:ext>
            </a:extLst>
          </p:cNvPr>
          <p:cNvSpPr/>
          <p:nvPr/>
        </p:nvSpPr>
        <p:spPr>
          <a:xfrm>
            <a:off x="6071079" y="4318934"/>
            <a:ext cx="2705100" cy="50800"/>
          </a:xfrm>
          <a:prstGeom prst="rect">
            <a:avLst/>
          </a:prstGeom>
          <a:solidFill>
            <a:srgbClr val="059C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B542">
            <a:extLst>
              <a:ext uri="{FF2B5EF4-FFF2-40B4-BE49-F238E27FC236}">
                <a16:creationId xmlns:a16="http://schemas.microsoft.com/office/drawing/2014/main" id="{0E36F26C-8E36-90E3-29D4-8A1CDDCB122A}"/>
              </a:ext>
            </a:extLst>
          </p:cNvPr>
          <p:cNvSpPr/>
          <p:nvPr/>
        </p:nvSpPr>
        <p:spPr>
          <a:xfrm>
            <a:off x="6223479" y="4420534"/>
            <a:ext cx="24003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B26"/>
                </a:solidFill>
              </a:rPr>
              <a:t>VAPT Tracker</a:t>
            </a:r>
          </a:p>
        </p:txBody>
      </p:sp>
      <p:sp>
        <p:nvSpPr>
          <p:cNvPr id="45" name="B543">
            <a:extLst>
              <a:ext uri="{FF2B5EF4-FFF2-40B4-BE49-F238E27FC236}">
                <a16:creationId xmlns:a16="http://schemas.microsoft.com/office/drawing/2014/main" id="{D8A4408B-A11A-9E31-BE4B-E5052D061855}"/>
              </a:ext>
            </a:extLst>
          </p:cNvPr>
          <p:cNvSpPr/>
          <p:nvPr/>
        </p:nvSpPr>
        <p:spPr>
          <a:xfrm>
            <a:off x="6223479" y="6107478"/>
            <a:ext cx="24003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000" b="0" dirty="0">
                <a:solidFill>
                  <a:srgbClr val="46564F"/>
                </a:solidFill>
              </a:rPr>
              <a:t>Vulnerability lifecycle, SLA posture and remediation trend</a:t>
            </a:r>
          </a:p>
        </p:txBody>
      </p:sp>
      <p:sp>
        <p:nvSpPr>
          <p:cNvPr id="46" name="B544">
            <a:extLst>
              <a:ext uri="{FF2B5EF4-FFF2-40B4-BE49-F238E27FC236}">
                <a16:creationId xmlns:a16="http://schemas.microsoft.com/office/drawing/2014/main" id="{5F0F1C5C-5E48-3741-4332-F52AE11E44AF}"/>
              </a:ext>
            </a:extLst>
          </p:cNvPr>
          <p:cNvSpPr/>
          <p:nvPr/>
        </p:nvSpPr>
        <p:spPr>
          <a:xfrm>
            <a:off x="8928579" y="4318934"/>
            <a:ext cx="2705100" cy="2159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9E5E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47" name="B545">
            <a:extLst>
              <a:ext uri="{FF2B5EF4-FFF2-40B4-BE49-F238E27FC236}">
                <a16:creationId xmlns:a16="http://schemas.microsoft.com/office/drawing/2014/main" id="{90AB1207-A8BF-5447-1B2C-199AD9D93E21}"/>
              </a:ext>
            </a:extLst>
          </p:cNvPr>
          <p:cNvSpPr/>
          <p:nvPr/>
        </p:nvSpPr>
        <p:spPr>
          <a:xfrm>
            <a:off x="8928579" y="4318934"/>
            <a:ext cx="2705100" cy="50800"/>
          </a:xfrm>
          <a:prstGeom prst="rect">
            <a:avLst/>
          </a:prstGeom>
          <a:solidFill>
            <a:srgbClr val="21376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B546">
            <a:extLst>
              <a:ext uri="{FF2B5EF4-FFF2-40B4-BE49-F238E27FC236}">
                <a16:creationId xmlns:a16="http://schemas.microsoft.com/office/drawing/2014/main" id="{FB3AA953-8427-C6B8-A793-FCA40A09C71A}"/>
              </a:ext>
            </a:extLst>
          </p:cNvPr>
          <p:cNvSpPr/>
          <p:nvPr/>
        </p:nvSpPr>
        <p:spPr>
          <a:xfrm>
            <a:off x="9080979" y="4420534"/>
            <a:ext cx="24003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B2B26"/>
                </a:solidFill>
              </a:rPr>
              <a:t>AppSec Command Centre</a:t>
            </a:r>
          </a:p>
        </p:txBody>
      </p:sp>
      <p:sp>
        <p:nvSpPr>
          <p:cNvPr id="49" name="B547">
            <a:extLst>
              <a:ext uri="{FF2B5EF4-FFF2-40B4-BE49-F238E27FC236}">
                <a16:creationId xmlns:a16="http://schemas.microsoft.com/office/drawing/2014/main" id="{D1B01B89-9DB7-4E7D-4D05-232B22BB47C3}"/>
              </a:ext>
            </a:extLst>
          </p:cNvPr>
          <p:cNvSpPr/>
          <p:nvPr/>
        </p:nvSpPr>
        <p:spPr>
          <a:xfrm>
            <a:off x="9080979" y="6116098"/>
            <a:ext cx="24003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000" b="0" dirty="0">
                <a:solidFill>
                  <a:srgbClr val="46564F"/>
                </a:solidFill>
              </a:rPr>
              <a:t>Estate-wide posture, threat intel and scan coverage</a:t>
            </a:r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41227B98-283D-2B9F-E411-D33D006E1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1079" y="356534"/>
            <a:ext cx="1752600" cy="33203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9DA09BDB-899A-5B6F-2961-D4C073CD4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2379" y="1728134"/>
            <a:ext cx="5080000" cy="2400300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69CA758E-1DA6-3DB2-65DE-1688B616E2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3479" y="4725334"/>
            <a:ext cx="2400300" cy="12700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0EC9962D-44B2-2510-0073-8854B33679C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58000" b="58000"/>
          <a:stretch>
            <a:fillRect/>
          </a:stretch>
        </p:blipFill>
        <p:spPr>
          <a:xfrm>
            <a:off x="9080979" y="4725334"/>
            <a:ext cx="2400300" cy="1270000"/>
          </a:xfrm>
          <a:prstGeom prst="rect">
            <a:avLst/>
          </a:prstGeom>
        </p:spPr>
      </p:pic>
      <p:pic>
        <p:nvPicPr>
          <p:cNvPr id="54" name="Graphic 548" descr="Accredited team">
            <a:extLst>
              <a:ext uri="{FF2B5EF4-FFF2-40B4-BE49-F238E27FC236}">
                <a16:creationId xmlns:a16="http://schemas.microsoft.com/office/drawing/2014/main" id="{D55D3AB7-2034-797C-744F-21C385127A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579" y="1194734"/>
            <a:ext cx="254000" cy="254000"/>
          </a:xfrm>
          <a:prstGeom prst="rect">
            <a:avLst/>
          </a:prstGeom>
        </p:spPr>
      </p:pic>
      <p:pic>
        <p:nvPicPr>
          <p:cNvPr id="55" name="Graphic 549" descr="AI automation">
            <a:extLst>
              <a:ext uri="{FF2B5EF4-FFF2-40B4-BE49-F238E27FC236}">
                <a16:creationId xmlns:a16="http://schemas.microsoft.com/office/drawing/2014/main" id="{1A34C8E6-D8E4-4C31-F80E-FD3E08C76F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73579" y="2617134"/>
            <a:ext cx="254000" cy="254000"/>
          </a:xfrm>
          <a:prstGeom prst="rect">
            <a:avLst/>
          </a:prstGeom>
        </p:spPr>
      </p:pic>
      <p:pic>
        <p:nvPicPr>
          <p:cNvPr id="56" name="Graphic 550" descr="Enterprise stack">
            <a:extLst>
              <a:ext uri="{FF2B5EF4-FFF2-40B4-BE49-F238E27FC236}">
                <a16:creationId xmlns:a16="http://schemas.microsoft.com/office/drawing/2014/main" id="{29EC184F-8A7E-48E7-89FF-9B6ED28DD8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3579" y="1905934"/>
            <a:ext cx="254000" cy="254000"/>
          </a:xfrm>
          <a:prstGeom prst="rect">
            <a:avLst/>
          </a:prstGeom>
        </p:spPr>
      </p:pic>
      <p:pic>
        <p:nvPicPr>
          <p:cNvPr id="57" name="Graphic 551" descr="Certifications">
            <a:extLst>
              <a:ext uri="{FF2B5EF4-FFF2-40B4-BE49-F238E27FC236}">
                <a16:creationId xmlns:a16="http://schemas.microsoft.com/office/drawing/2014/main" id="{C0BFA868-CC65-2B06-2507-3D07BAA8A9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19579" y="3239434"/>
            <a:ext cx="203200" cy="20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ontserra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1146</Words>
  <Application>Microsoft Office PowerPoint</Application>
  <PresentationFormat>Widescreen</PresentationFormat>
  <Paragraphs>173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Trasealla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Pioneer System Architecture - Mwasalat</dc:title>
  <dc:subject>Pioneer System Architecture</dc:subject>
  <dc:creator>OpenAI</dc:creator>
  <cp:lastModifiedBy>Osamah Alaaeldin Kenawy</cp:lastModifiedBy>
  <cp:revision>3</cp:revision>
  <dcterms:created xsi:type="dcterms:W3CDTF">2026-08-19T11:02:59Z</dcterms:created>
  <dcterms:modified xsi:type="dcterms:W3CDTF">2026-08-19T11:39:32Z</dcterms:modified>
</cp:coreProperties>
</file>