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pana Soni" userId="fdf88a5a-fd9d-4d44-8de7-46a6dbaca085" providerId="ADAL" clId="{69A2C3E8-3348-4C28-8ABA-4F5BE2AABE15}"/>
    <pc:docChg chg="undo custSel modSld">
      <pc:chgData name="Alpana Soni" userId="fdf88a5a-fd9d-4d44-8de7-46a6dbaca085" providerId="ADAL" clId="{69A2C3E8-3348-4C28-8ABA-4F5BE2AABE15}" dt="2026-09-23T07:08:09.853" v="14" actId="478"/>
      <pc:docMkLst>
        <pc:docMk/>
      </pc:docMkLst>
      <pc:sldChg chg="addSp delSp mod">
        <pc:chgData name="Alpana Soni" userId="fdf88a5a-fd9d-4d44-8de7-46a6dbaca085" providerId="ADAL" clId="{69A2C3E8-3348-4C28-8ABA-4F5BE2AABE15}" dt="2026-09-23T07:08:09.853" v="14" actId="478"/>
        <pc:sldMkLst>
          <pc:docMk/>
          <pc:sldMk cId="0" sldId="256"/>
        </pc:sldMkLst>
        <pc:picChg chg="add del">
          <ac:chgData name="Alpana Soni" userId="fdf88a5a-fd9d-4d44-8de7-46a6dbaca085" providerId="ADAL" clId="{69A2C3E8-3348-4C28-8ABA-4F5BE2AABE15}" dt="2026-09-23T07:08:09.853" v="14" actId="478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mod">
        <pc:chgData name="Alpana Soni" userId="fdf88a5a-fd9d-4d44-8de7-46a6dbaca085" providerId="ADAL" clId="{69A2C3E8-3348-4C28-8ABA-4F5BE2AABE15}" dt="2026-09-23T07:08:06.065" v="10" actId="6549"/>
        <pc:sldMkLst>
          <pc:docMk/>
          <pc:sldMk cId="0" sldId="258"/>
        </pc:sldMkLst>
        <pc:spChg chg="add del">
          <ac:chgData name="Alpana Soni" userId="fdf88a5a-fd9d-4d44-8de7-46a6dbaca085" providerId="ADAL" clId="{69A2C3E8-3348-4C28-8ABA-4F5BE2AABE15}" dt="2026-09-23T07:07:56.900" v="8" actId="478"/>
          <ac:spMkLst>
            <pc:docMk/>
            <pc:sldMk cId="0" sldId="258"/>
            <ac:spMk id="23" creationId="{00000000-0000-0000-0000-000000000000}"/>
          </ac:spMkLst>
        </pc:spChg>
        <pc:spChg chg="add del mod">
          <ac:chgData name="Alpana Soni" userId="fdf88a5a-fd9d-4d44-8de7-46a6dbaca085" providerId="ADAL" clId="{69A2C3E8-3348-4C28-8ABA-4F5BE2AABE15}" dt="2026-09-23T07:08:06.065" v="10" actId="6549"/>
          <ac:spMkLst>
            <pc:docMk/>
            <pc:sldMk cId="0" sldId="258"/>
            <ac:spMk id="24" creationId="{00000000-0000-0000-0000-000000000000}"/>
          </ac:spMkLst>
        </pc:spChg>
      </pc:sldChg>
      <pc:sldChg chg="addSp delSp mod">
        <pc:chgData name="Alpana Soni" userId="fdf88a5a-fd9d-4d44-8de7-46a6dbaca085" providerId="ADAL" clId="{69A2C3E8-3348-4C28-8ABA-4F5BE2AABE15}" dt="2026-09-23T07:07:27.992" v="2" actId="478"/>
        <pc:sldMkLst>
          <pc:docMk/>
          <pc:sldMk cId="0" sldId="259"/>
        </pc:sldMkLst>
        <pc:picChg chg="add del">
          <ac:chgData name="Alpana Soni" userId="fdf88a5a-fd9d-4d44-8de7-46a6dbaca085" providerId="ADAL" clId="{69A2C3E8-3348-4C28-8ABA-4F5BE2AABE15}" dt="2026-09-23T07:07:27.992" v="2" actId="478"/>
          <ac:picMkLst>
            <pc:docMk/>
            <pc:sldMk cId="0" sldId="259"/>
            <ac:picMk id="3" creationId="{00000000-0000-0000-0000-000000000000}"/>
          </ac:picMkLst>
        </pc:picChg>
      </pc:sldChg>
      <pc:sldChg chg="addSp delSp mod">
        <pc:chgData name="Alpana Soni" userId="fdf88a5a-fd9d-4d44-8de7-46a6dbaca085" providerId="ADAL" clId="{69A2C3E8-3348-4C28-8ABA-4F5BE2AABE15}" dt="2026-09-23T07:08:07.159" v="12" actId="478"/>
        <pc:sldMkLst>
          <pc:docMk/>
          <pc:sldMk cId="0" sldId="260"/>
        </pc:sldMkLst>
        <pc:picChg chg="add del">
          <ac:chgData name="Alpana Soni" userId="fdf88a5a-fd9d-4d44-8de7-46a6dbaca085" providerId="ADAL" clId="{69A2C3E8-3348-4C28-8ABA-4F5BE2AABE15}" dt="2026-09-23T07:08:07.159" v="12" actId="478"/>
          <ac:picMkLst>
            <pc:docMk/>
            <pc:sldMk cId="0" sldId="260"/>
            <ac:picMk id="3" creationId="{00000000-0000-0000-0000-000000000000}"/>
          </ac:picMkLst>
        </pc:picChg>
      </pc:sldChg>
      <pc:sldChg chg="addSp delSp mod">
        <pc:chgData name="Alpana Soni" userId="fdf88a5a-fd9d-4d44-8de7-46a6dbaca085" providerId="ADAL" clId="{69A2C3E8-3348-4C28-8ABA-4F5BE2AABE15}" dt="2026-09-23T07:08:06.932" v="11" actId="478"/>
        <pc:sldMkLst>
          <pc:docMk/>
          <pc:sldMk cId="0" sldId="261"/>
        </pc:sldMkLst>
        <pc:picChg chg="add del">
          <ac:chgData name="Alpana Soni" userId="fdf88a5a-fd9d-4d44-8de7-46a6dbaca085" providerId="ADAL" clId="{69A2C3E8-3348-4C28-8ABA-4F5BE2AABE15}" dt="2026-09-23T07:08:06.932" v="11" actId="478"/>
          <ac:picMkLst>
            <pc:docMk/>
            <pc:sldMk cId="0" sldId="261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62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9000"/>
            <a:ext cx="3429000" cy="3429000"/>
          </a:xfrm>
          <a:prstGeom prst="rect">
            <a:avLst/>
          </a:prstGeom>
        </p:spPr>
      </p:pic>
      <p:pic>
        <p:nvPicPr>
          <p:cNvPr id="4" name="Image 2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52000" y="5080000"/>
            <a:ext cx="1778000" cy="177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800" y="812800"/>
            <a:ext cx="406400" cy="381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1"/>
          <p:cNvSpPr/>
          <p:nvPr/>
        </p:nvSpPr>
        <p:spPr>
          <a:xfrm>
            <a:off x="812800" y="977900"/>
            <a:ext cx="9156700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ROADMAP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812800" y="1300427"/>
            <a:ext cx="9156700" cy="656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68"/>
              </a:lnSpc>
              <a:buNone/>
            </a:pPr>
            <a:r>
              <a:rPr lang="en-US" sz="4600" b="1" dirty="0">
                <a:solidFill>
                  <a:srgbClr val="204A8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Pioneer Platform Roadmap</a:t>
            </a:r>
            <a:endParaRPr lang="en-US" sz="4600" dirty="0"/>
          </a:p>
        </p:txBody>
      </p:sp>
      <p:sp>
        <p:nvSpPr>
          <p:cNvPr id="8" name="Text 3"/>
          <p:cNvSpPr/>
          <p:nvPr/>
        </p:nvSpPr>
        <p:spPr>
          <a:xfrm>
            <a:off x="812800" y="2058326"/>
            <a:ext cx="9156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day-to-day workshop operations to a connected, customer-first digital platform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812800" y="5814087"/>
            <a:ext cx="150078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Mwasalat Holdings</a:t>
            </a:r>
            <a:endParaRPr lang="en-US" sz="13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E7AC34-15AE-9508-BD56-2C466945F9B0}"/>
              </a:ext>
            </a:extLst>
          </p:cNvPr>
          <p:cNvSpPr txBox="1"/>
          <p:nvPr/>
        </p:nvSpPr>
        <p:spPr>
          <a:xfrm>
            <a:off x="9903125" y="5926347"/>
            <a:ext cx="147607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12233B"/>
                </a:solidFill>
                <a:latin typeface="IBM Plex Sans" pitchFamily="34" charset="0"/>
              </a:rPr>
              <a:t>23-09-2026</a:t>
            </a:r>
            <a:endParaRPr lang="en-AE" sz="1300" b="1" dirty="0">
              <a:solidFill>
                <a:srgbClr val="12233B"/>
              </a:solidFill>
              <a:latin typeface="IBM Plex Sans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7F8F6"/>
              </a:gs>
            </a:gsLst>
            <a:lin ang="4200000" scaled="0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11200" y="558800"/>
            <a:ext cx="1109268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223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Pioneer Platform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1200" y="918170"/>
            <a:ext cx="11092688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 every job, from proposal to completion · Check every car, from parts to handover · Connect billing, customers and attendance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56176" y="1323314"/>
            <a:ext cx="6118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35100" y="1574734"/>
            <a:ext cx="203200" cy="254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986830" y="1638234"/>
            <a:ext cx="1150541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live · 1–7 October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18376" y="1323314"/>
            <a:ext cx="6118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7300" y="1574734"/>
            <a:ext cx="203200" cy="254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3143316" y="1638234"/>
            <a:ext cx="1561968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live · 3rd week of October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02876" y="1323314"/>
            <a:ext cx="6118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81800" y="1574734"/>
            <a:ext cx="203200" cy="254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6073643" y="1638234"/>
            <a:ext cx="1670315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live · 1st week of November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20100" y="1275028"/>
            <a:ext cx="2895600" cy="571500"/>
          </a:xfrm>
          <a:prstGeom prst="roundRect">
            <a:avLst>
              <a:gd name="adj" fmla="val 17778"/>
            </a:avLst>
          </a:prstGeom>
          <a:solidFill>
            <a:srgbClr val="E6EBF5"/>
          </a:solidFill>
          <a:ln/>
          <a:effectLst>
            <a:outerShdw blurRad="76200" dist="25400" dir="5400000" algn="bl" rotWithShape="0">
              <a:srgbClr val="204A8C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8547100" y="1421078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6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16950" y="1490928"/>
            <a:ext cx="139700" cy="139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915400" y="1467445"/>
            <a:ext cx="1803202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Customer-facing mobile app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1200" y="1935428"/>
            <a:ext cx="1651000" cy="127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B5AA3"/>
              </a:gs>
              <a:gs pos="100000">
                <a:srgbClr val="1B3F79"/>
              </a:gs>
            </a:gsLst>
            <a:lin ang="4200000" scaled="0"/>
          </a:gradFill>
          <a:ln/>
          <a:effectLst>
            <a:outerShdw blurRad="101600" dist="38100" dir="5400000" algn="bl" rotWithShape="0">
              <a:srgbClr val="12233B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Text 16"/>
          <p:cNvSpPr/>
          <p:nvPr/>
        </p:nvSpPr>
        <p:spPr>
          <a:xfrm>
            <a:off x="838200" y="2125928"/>
            <a:ext cx="144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 Advisor / Customer Support sends the commercial proposal automatically by email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451100" y="1935428"/>
            <a:ext cx="2895600" cy="127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B5AA3"/>
              </a:gs>
              <a:gs pos="100000">
                <a:srgbClr val="1B3F79"/>
              </a:gs>
            </a:gsLst>
            <a:lin ang="4200000" scaled="0"/>
          </a:gradFill>
          <a:ln/>
          <a:effectLst>
            <a:outerShdw blurRad="101600" dist="38100" dir="5400000" algn="bl" rotWithShape="0">
              <a:srgbClr val="12233B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Text 18"/>
          <p:cNvSpPr/>
          <p:nvPr/>
        </p:nvSpPr>
        <p:spPr>
          <a:xfrm>
            <a:off x="2578100" y="2392628"/>
            <a:ext cx="27208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sign-in unlocks booking, complaints &amp; live job-card status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35600" y="1935428"/>
            <a:ext cx="2895600" cy="127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B5AA3"/>
              </a:gs>
              <a:gs pos="100000">
                <a:srgbClr val="1B3F79"/>
              </a:gs>
            </a:gsLst>
            <a:lin ang="4200000" scaled="0"/>
          </a:gradFill>
          <a:ln/>
          <a:effectLst>
            <a:outerShdw blurRad="101600" dist="38100" dir="5400000" algn="bl" rotWithShape="0">
              <a:srgbClr val="12233B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0"/>
          <p:cNvSpPr/>
          <p:nvPr/>
        </p:nvSpPr>
        <p:spPr>
          <a:xfrm>
            <a:off x="5562600" y="2481528"/>
            <a:ext cx="207190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WhatsApp updates to the customer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420100" y="1935428"/>
            <a:ext cx="2895600" cy="1270000"/>
          </a:xfrm>
          <a:prstGeom prst="roundRect">
            <a:avLst>
              <a:gd name="adj" fmla="val 8000"/>
            </a:avLst>
          </a:prstGeom>
          <a:solidFill>
            <a:srgbClr val="E6EBF5"/>
          </a:solidFill>
          <a:ln/>
          <a:effectLst>
            <a:outerShdw blurRad="76200" dist="25400" dir="5400000" algn="bl" rotWithShape="0">
              <a:srgbClr val="204A8C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Shape 22"/>
          <p:cNvSpPr/>
          <p:nvPr/>
        </p:nvSpPr>
        <p:spPr>
          <a:xfrm>
            <a:off x="8547100" y="2430728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6" name="Image 1" descr="Wren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16950" y="2500578"/>
            <a:ext cx="139700" cy="1397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915400" y="2477095"/>
            <a:ext cx="1078706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Workshop portal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11200" y="3294328"/>
            <a:ext cx="1651000" cy="127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B5AA3"/>
              </a:gs>
              <a:gs pos="100000">
                <a:srgbClr val="1B3F79"/>
              </a:gs>
            </a:gsLst>
            <a:lin ang="4200000" scaled="0"/>
          </a:gradFill>
          <a:ln/>
          <a:effectLst>
            <a:outerShdw blurRad="101600" dist="38100" dir="5400000" algn="bl" rotWithShape="0">
              <a:srgbClr val="12233B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9" name="Text 25"/>
          <p:cNvSpPr/>
          <p:nvPr/>
        </p:nvSpPr>
        <p:spPr>
          <a:xfrm>
            <a:off x="838200" y="3573728"/>
            <a:ext cx="1447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Job card opens only when approved; Team Leader assigns &amp; times the job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2451100" y="3294328"/>
            <a:ext cx="2895600" cy="127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B5AA3"/>
              </a:gs>
              <a:gs pos="100000">
                <a:srgbClr val="1B3F79"/>
              </a:gs>
            </a:gsLst>
            <a:lin ang="4200000" scaled="0"/>
          </a:gradFill>
          <a:ln/>
          <a:effectLst>
            <a:outerShdw blurRad="101600" dist="38100" dir="5400000" algn="bl" rotWithShape="0">
              <a:srgbClr val="12233B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1" name="Text 27"/>
          <p:cNvSpPr/>
          <p:nvPr/>
        </p:nvSpPr>
        <p:spPr>
          <a:xfrm>
            <a:off x="2578100" y="3751528"/>
            <a:ext cx="27208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check, road test &amp; gate pass before handover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435600" y="3294328"/>
            <a:ext cx="2895600" cy="127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B5AA3"/>
              </a:gs>
              <a:gs pos="100000">
                <a:srgbClr val="1B3F79"/>
              </a:gs>
            </a:gsLst>
            <a:lin ang="4200000" scaled="0"/>
          </a:gradFill>
          <a:ln/>
          <a:effectLst>
            <a:outerShdw blurRad="101600" dist="38100" dir="5400000" algn="bl" rotWithShape="0">
              <a:srgbClr val="12233B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3" name="Text 29"/>
          <p:cNvSpPr/>
          <p:nvPr/>
        </p:nvSpPr>
        <p:spPr>
          <a:xfrm>
            <a:off x="5562600" y="3751528"/>
            <a:ext cx="27208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Attendance captured automatically via punch clock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420100" y="3294328"/>
            <a:ext cx="2895600" cy="1270000"/>
          </a:xfrm>
          <a:prstGeom prst="roundRect">
            <a:avLst>
              <a:gd name="adj" fmla="val 8000"/>
            </a:avLst>
          </a:prstGeom>
          <a:solidFill>
            <a:srgbClr val="E6EBF5"/>
          </a:solidFill>
          <a:ln/>
          <a:effectLst>
            <a:outerShdw blurRad="76200" dist="25400" dir="5400000" algn="bl" rotWithShape="0">
              <a:srgbClr val="204A8C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5" name="Shape 31"/>
          <p:cNvSpPr/>
          <p:nvPr/>
        </p:nvSpPr>
        <p:spPr>
          <a:xfrm>
            <a:off x="8547100" y="3789628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6" name="Image 2" descr="Databa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16950" y="3859478"/>
            <a:ext cx="139700" cy="1397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915400" y="3835995"/>
            <a:ext cx="928820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ORBIT system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711200" y="4653228"/>
            <a:ext cx="1651000" cy="127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B5AA3"/>
              </a:gs>
              <a:gs pos="100000">
                <a:srgbClr val="1B3F79"/>
              </a:gs>
            </a:gsLst>
            <a:lin ang="4200000" scaled="0"/>
          </a:gradFill>
          <a:ln/>
          <a:effectLst>
            <a:outerShdw blurRad="101600" dist="38100" dir="5400000" algn="bl" rotWithShape="0">
              <a:srgbClr val="12233B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9" name="Text 34"/>
          <p:cNvSpPr/>
          <p:nvPr/>
        </p:nvSpPr>
        <p:spPr>
          <a:xfrm>
            <a:off x="838200" y="5021528"/>
            <a:ext cx="1447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Promotional app launches on iOS &amp; Android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2451100" y="4653228"/>
            <a:ext cx="2895600" cy="127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B5AA3"/>
              </a:gs>
              <a:gs pos="100000">
                <a:srgbClr val="1B3F79"/>
              </a:gs>
            </a:gsLst>
            <a:lin ang="4200000" scaled="0"/>
          </a:gradFill>
          <a:ln/>
          <a:effectLst>
            <a:outerShdw blurRad="101600" dist="38100" dir="5400000" algn="bl" rotWithShape="0">
              <a:srgbClr val="12233B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1" name="Text 36"/>
          <p:cNvSpPr/>
          <p:nvPr/>
        </p:nvSpPr>
        <p:spPr>
          <a:xfrm>
            <a:off x="2578100" y="5199328"/>
            <a:ext cx="21615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Parts requisition from approved lines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435600" y="4653228"/>
            <a:ext cx="2895600" cy="127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B5AA3"/>
              </a:gs>
              <a:gs pos="100000">
                <a:srgbClr val="1B3F79"/>
              </a:gs>
            </a:gsLst>
            <a:lin ang="4200000" scaled="0"/>
          </a:gradFill>
          <a:ln/>
          <a:effectLst>
            <a:outerShdw blurRad="101600" dist="38100" dir="5400000" algn="bl" rotWithShape="0">
              <a:srgbClr val="12233B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3" name="Text 38"/>
          <p:cNvSpPr/>
          <p:nvPr/>
        </p:nvSpPr>
        <p:spPr>
          <a:xfrm>
            <a:off x="5562600" y="5199328"/>
            <a:ext cx="235696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Invoices pushed automatically to ORBIT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711200" y="6075628"/>
            <a:ext cx="11092688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 needed:</a:t>
            </a:r>
            <a:r>
              <a:rPr lang="en-US" sz="95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Apple &amp; Google developer accounts and team leadership (Phase 1)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7F8F6"/>
              </a:gs>
            </a:gsLst>
            <a:lin ang="4200000" scaled="0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11200" y="609600"/>
            <a:ext cx="1109268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223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Rollout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1200" y="981670"/>
            <a:ext cx="11092688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September – November 2026 · Go-live dates by phase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1200" y="1812198"/>
            <a:ext cx="88900" cy="889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50900" y="1767748"/>
            <a:ext cx="18182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900" y="1977298"/>
            <a:ext cx="1818259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Workshop portal &amp; customer-facing promotional offers mobile app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1200" y="2701198"/>
            <a:ext cx="88900" cy="889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850900" y="2656748"/>
            <a:ext cx="18182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900" y="2866298"/>
            <a:ext cx="1818259" cy="33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pass on the workshop floor &amp; full customer-facing mobile app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1200" y="3590198"/>
            <a:ext cx="88900" cy="889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850900" y="3545748"/>
            <a:ext cx="18182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900" y="3755298"/>
            <a:ext cx="1818259" cy="179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ORBIT system integration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1926498"/>
            <a:ext cx="8534400" cy="254000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2743200" y="2815498"/>
            <a:ext cx="8534400" cy="254000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2743200" y="3704498"/>
            <a:ext cx="8534400" cy="254000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5588000" y="1570898"/>
            <a:ext cx="6350" cy="2705100"/>
          </a:xfrm>
          <a:prstGeom prst="rect">
            <a:avLst/>
          </a:prstGeom>
          <a:solidFill>
            <a:srgbClr val="E1E6E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8432800" y="1570898"/>
            <a:ext cx="6350" cy="2705100"/>
          </a:xfrm>
          <a:prstGeom prst="rect">
            <a:avLst/>
          </a:prstGeom>
          <a:solidFill>
            <a:srgbClr val="E1E6E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4927600" y="1570898"/>
            <a:ext cx="12700" cy="2705100"/>
          </a:xfrm>
          <a:prstGeom prst="rect">
            <a:avLst/>
          </a:prstGeom>
          <a:solidFill>
            <a:srgbClr val="204A8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5676900" y="1926498"/>
            <a:ext cx="552450" cy="2540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  <a:effectLst>
            <a:outerShdw blurRad="63500" dist="25400" dir="5400000" algn="bl" rotWithShape="0">
              <a:srgbClr val="204A8C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7334250" y="2815498"/>
            <a:ext cx="546100" cy="2540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  <a:effectLst>
            <a:outerShdw blurRad="63500" dist="25400" dir="5400000" algn="bl" rotWithShape="0">
              <a:srgbClr val="204A8C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8528050" y="3704498"/>
            <a:ext cx="565150" cy="25400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  <a:effectLst>
            <a:outerShdw blurRad="63500" dist="25400" dir="5400000" algn="bl" rotWithShape="0">
              <a:srgbClr val="204A8C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4641850" y="1570898"/>
            <a:ext cx="571500" cy="218414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  <a:effectLst>
            <a:outerShdw blurRad="50800" dist="19050" dir="5400000" algn="bl" rotWithShape="0">
              <a:srgbClr val="204A8C">
                <a:alpha val="4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4616450" y="1608998"/>
            <a:ext cx="622300" cy="16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00528" y="1354998"/>
            <a:ext cx="293014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SEPTEMBER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45328" y="1354998"/>
            <a:ext cx="293014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OCTOBER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90128" y="1354998"/>
            <a:ext cx="293014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NOVEMBER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76900" y="1710598"/>
            <a:ext cx="2223770" cy="185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LIVE · 1–7 October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34250" y="2599598"/>
            <a:ext cx="2223770" cy="185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LIVE · 19–25 October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28050" y="3488598"/>
            <a:ext cx="2223770" cy="185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LIVE · 1–7 November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5000">
                <a:srgbClr val="E6EBF5"/>
              </a:gs>
              <a:gs pos="100000">
                <a:srgbClr val="F7F8F6"/>
              </a:gs>
            </a:gsLst>
            <a:lin ang="4200000" scaled="0"/>
          </a:gra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2800" y="711200"/>
            <a:ext cx="1119915" cy="27047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  <a:effectLst>
            <a:outerShdw blurRad="63500" dist="25400" dir="5400000" algn="bl" rotWithShape="0">
              <a:srgbClr val="204A8C">
                <a:alpha val="3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2"/>
          <p:cNvSpPr/>
          <p:nvPr/>
        </p:nvSpPr>
        <p:spPr>
          <a:xfrm>
            <a:off x="927100" y="762000"/>
            <a:ext cx="942115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kern="0" spc="75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 OF 3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12800" y="1070570"/>
            <a:ext cx="7194550" cy="75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1223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Govern every job, from proposal to completion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12800" y="1889720"/>
            <a:ext cx="7194550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8A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Today: the system records work but does not govern it.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604375" y="714375"/>
            <a:ext cx="1771650" cy="698037"/>
          </a:xfrm>
          <a:prstGeom prst="roundRect">
            <a:avLst>
              <a:gd name="adj" fmla="val 14100"/>
            </a:avLst>
          </a:prstGeom>
          <a:solidFill>
            <a:srgbClr val="FFFFFF"/>
          </a:solidFill>
          <a:ln w="6350">
            <a:solidFill>
              <a:srgbClr val="204A8C"/>
            </a:solidFill>
            <a:prstDash val="solid"/>
          </a:ln>
          <a:effectLst>
            <a:outerShdw blurRad="101600" dist="38100" dir="5400000" algn="bl" rotWithShape="0">
              <a:srgbClr val="204A8C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9" name="Image 1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83234" y="865254"/>
            <a:ext cx="114300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948334" y="842434"/>
            <a:ext cx="534392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kern="0" spc="50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LIVE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783234" y="1053241"/>
            <a:ext cx="146473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1–7 October 2026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5975" y="2308160"/>
            <a:ext cx="5790340" cy="2341033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 w="6350">
            <a:solidFill>
              <a:srgbClr val="E1E6E4"/>
            </a:solidFill>
            <a:prstDash val="solid"/>
          </a:ln>
          <a:effectLst>
            <a:outerShdw blurRad="152400" dist="50800" dir="5400000" algn="bl" rotWithShape="0">
              <a:srgbClr val="12233B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3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5633" y="2531467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533" y="2512417"/>
            <a:ext cx="108995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045633" y="2791817"/>
            <a:ext cx="5490954" cy="1678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0020" indent="-141351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 Advisor / Customer Support sends the commercial proposal to the customer automatically by email from the system</a:t>
            </a:r>
            <a:endParaRPr lang="en-US" sz="1050" dirty="0"/>
          </a:p>
          <a:p>
            <a:pPr marL="160020" indent="-141351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Job card opens only when approved</a:t>
            </a:r>
            <a:endParaRPr lang="en-US" sz="1050" dirty="0"/>
          </a:p>
          <a:p>
            <a:pPr marL="160020" indent="-141351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Leader assigns the technician</a:t>
            </a:r>
            <a:endParaRPr lang="en-US" sz="1050" dirty="0"/>
          </a:p>
          <a:p>
            <a:pPr marL="160020" indent="-141351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and end time booked per job</a:t>
            </a:r>
            <a:endParaRPr lang="en-US" sz="1050" dirty="0"/>
          </a:p>
          <a:p>
            <a:pPr marL="160020" indent="-141351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Technician starts, pauses, completes</a:t>
            </a:r>
            <a:endParaRPr lang="en-US" sz="1050" dirty="0"/>
          </a:p>
          <a:p>
            <a:pPr marL="160020" indent="-141351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Promotional app launches on iOS &amp; Android — brand, services, offers, find &amp; contact a branch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815865" y="2308160"/>
            <a:ext cx="4560160" cy="2341033"/>
          </a:xfrm>
          <a:prstGeom prst="roundRect">
            <a:avLst>
              <a:gd name="adj" fmla="val 5289"/>
            </a:avLst>
          </a:prstGeom>
          <a:gradFill rotWithShape="1">
            <a:gsLst>
              <a:gs pos="0">
                <a:srgbClr val="E6EBF5"/>
              </a:gs>
              <a:gs pos="100000">
                <a:srgbClr val="DCE4F2"/>
              </a:gs>
            </a:gsLst>
            <a:lin ang="4200000" scaled="0"/>
          </a:gradFill>
          <a:ln w="6350">
            <a:solidFill>
              <a:srgbClr val="CBD8ED"/>
            </a:solidFill>
            <a:prstDash val="solid"/>
          </a:ln>
          <a:effectLst>
            <a:outerShdw blurRad="152400" dist="50800" dir="5400000" algn="bl" rotWithShape="0">
              <a:srgbClr val="204A8C">
                <a:alpha val="14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7" name="Image 3" descr="Lightbulb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45523" y="2531467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61423" y="2512417"/>
            <a:ext cx="58373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045523" y="2779117"/>
            <a:ext cx="4223869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i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unapproved, one owner per car, and a channel we own.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045523" y="4107194"/>
            <a:ext cx="422386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 needed:</a:t>
            </a:r>
            <a:r>
              <a:rPr lang="en-US" sz="950" dirty="0">
                <a:solidFill>
                  <a:srgbClr val="5B6B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Apple &amp; Google developer accounts · confirm who leads which team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5000">
                <a:srgbClr val="EAEFFA"/>
              </a:gs>
              <a:gs pos="100000">
                <a:srgbClr val="F7F8F6"/>
              </a:gs>
            </a:gsLst>
            <a:lin ang="4200000" scaled="0"/>
          </a:gra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2800" y="812800"/>
            <a:ext cx="1119915" cy="27047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  <a:effectLst>
            <a:outerShdw blurRad="63500" dist="25400" dir="5400000" algn="bl" rotWithShape="0">
              <a:srgbClr val="204A8C">
                <a:alpha val="3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2"/>
          <p:cNvSpPr/>
          <p:nvPr/>
        </p:nvSpPr>
        <p:spPr>
          <a:xfrm>
            <a:off x="927100" y="863600"/>
            <a:ext cx="942115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kern="0" spc="75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2 OF 3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12800" y="1172170"/>
            <a:ext cx="650759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1223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every car, from parts to handover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9438415" y="815975"/>
            <a:ext cx="1937610" cy="698037"/>
          </a:xfrm>
          <a:prstGeom prst="roundRect">
            <a:avLst>
              <a:gd name="adj" fmla="val 14100"/>
            </a:avLst>
          </a:prstGeom>
          <a:solidFill>
            <a:srgbClr val="FFFFFF"/>
          </a:solidFill>
          <a:ln w="6350">
            <a:solidFill>
              <a:srgbClr val="204A8C"/>
            </a:solidFill>
            <a:prstDash val="solid"/>
          </a:ln>
          <a:effectLst>
            <a:outerShdw blurRad="101600" dist="38100" dir="5400000" algn="bl" rotWithShape="0">
              <a:srgbClr val="204A8C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8" name="Image 1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17273" y="966856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2373" y="944035"/>
            <a:ext cx="534392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kern="0" spc="50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LIVE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9617273" y="1154841"/>
            <a:ext cx="163069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19–25 October 2026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15975" y="1794470"/>
            <a:ext cx="5790340" cy="1754518"/>
          </a:xfrm>
          <a:prstGeom prst="roundRect">
            <a:avLst>
              <a:gd name="adj" fmla="val 7057"/>
            </a:avLst>
          </a:prstGeom>
          <a:solidFill>
            <a:srgbClr val="FFFFFF"/>
          </a:solidFill>
          <a:ln w="6350">
            <a:solidFill>
              <a:srgbClr val="E1E6E4"/>
            </a:solidFill>
            <a:prstDash val="solid"/>
          </a:ln>
          <a:effectLst>
            <a:outerShdw blurRad="152400" dist="50800" dir="5400000" algn="bl" rotWithShape="0">
              <a:srgbClr val="12233B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2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5633" y="2017781"/>
            <a:ext cx="152400" cy="152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533" y="1998731"/>
            <a:ext cx="108995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045633" y="2278131"/>
            <a:ext cx="5490954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0020" indent="-141351" algn="l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Parts requisition from approved lines</a:t>
            </a:r>
            <a:endParaRPr lang="en-US" sz="1050" dirty="0"/>
          </a:p>
          <a:p>
            <a:pPr marL="160020" indent="-141351" algn="l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check and road test</a:t>
            </a:r>
            <a:endParaRPr lang="en-US" sz="1050" dirty="0"/>
          </a:p>
          <a:p>
            <a:pPr marL="160020" indent="-141351" algn="l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pass gates the handover</a:t>
            </a:r>
            <a:endParaRPr lang="en-US" sz="1050" dirty="0"/>
          </a:p>
          <a:p>
            <a:pPr marL="160020" indent="-141351" algn="l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Coordinator role introduced</a:t>
            </a:r>
            <a:endParaRPr lang="en-US" sz="1050" dirty="0"/>
          </a:p>
          <a:p>
            <a:pPr marL="160020" indent="-141351" algn="l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sign-in unlocks booking, complaints &amp; live job-card status in the app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815865" y="1794470"/>
            <a:ext cx="4560160" cy="1754518"/>
          </a:xfrm>
          <a:prstGeom prst="roundRect">
            <a:avLst>
              <a:gd name="adj" fmla="val 7057"/>
            </a:avLst>
          </a:prstGeom>
          <a:gradFill rotWithShape="1">
            <a:gsLst>
              <a:gs pos="0">
                <a:srgbClr val="E6EBF5"/>
              </a:gs>
              <a:gs pos="100000">
                <a:srgbClr val="DCE4F2"/>
              </a:gs>
            </a:gsLst>
            <a:lin ang="4200000" scaled="0"/>
          </a:gradFill>
          <a:ln w="6350">
            <a:solidFill>
              <a:srgbClr val="CBD8ED"/>
            </a:solidFill>
            <a:prstDash val="solid"/>
          </a:ln>
          <a:effectLst>
            <a:outerShdw blurRad="152400" dist="50800" dir="5400000" algn="bl" rotWithShape="0">
              <a:srgbClr val="204A8C">
                <a:alpha val="14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6" name="Image 3" descr="Lightbulb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45523" y="2017781"/>
            <a:ext cx="152400" cy="152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61423" y="1998731"/>
            <a:ext cx="58373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045523" y="2278131"/>
            <a:ext cx="4223869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i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leaves unchecked or unbilled.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5000">
                <a:srgbClr val="E6EBF5"/>
              </a:gs>
              <a:gs pos="100000">
                <a:srgbClr val="F7F8F6"/>
              </a:gs>
            </a:gsLst>
            <a:lin ang="4200000" scaled="0"/>
          </a:gra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2800" y="812800"/>
            <a:ext cx="1119915" cy="270470"/>
          </a:xfrm>
          <a:prstGeom prst="roundRect">
            <a:avLst>
              <a:gd name="adj" fmla="val 50000"/>
            </a:avLst>
          </a:prstGeom>
          <a:solidFill>
            <a:srgbClr val="204A8C"/>
          </a:solidFill>
          <a:ln/>
          <a:effectLst>
            <a:outerShdw blurRad="63500" dist="25400" dir="5400000" algn="bl" rotWithShape="0">
              <a:srgbClr val="204A8C">
                <a:alpha val="3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2"/>
          <p:cNvSpPr/>
          <p:nvPr/>
        </p:nvSpPr>
        <p:spPr>
          <a:xfrm>
            <a:off x="927100" y="863600"/>
            <a:ext cx="942115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kern="0" spc="75" dirty="0">
                <a:solidFill>
                  <a:srgbClr val="F7F8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3 OF 3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12800" y="1172170"/>
            <a:ext cx="702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1223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Connect billing, customers and attendance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9458590" y="815975"/>
            <a:ext cx="1917435" cy="698037"/>
          </a:xfrm>
          <a:prstGeom prst="roundRect">
            <a:avLst>
              <a:gd name="adj" fmla="val 14100"/>
            </a:avLst>
          </a:prstGeom>
          <a:solidFill>
            <a:srgbClr val="FFFFFF"/>
          </a:solidFill>
          <a:ln w="6350">
            <a:solidFill>
              <a:srgbClr val="204A8C"/>
            </a:solidFill>
            <a:prstDash val="solid"/>
          </a:ln>
          <a:effectLst>
            <a:outerShdw blurRad="101600" dist="38100" dir="5400000" algn="bl" rotWithShape="0">
              <a:srgbClr val="204A8C">
                <a:alpha val="1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8" name="Image 1" descr="C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37448" y="966856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02548" y="944035"/>
            <a:ext cx="534392" cy="185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kern="0" spc="50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LIVE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9637448" y="1154841"/>
            <a:ext cx="161051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1–7 November 2026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15975" y="1794470"/>
            <a:ext cx="5790340" cy="1491059"/>
          </a:xfrm>
          <a:prstGeom prst="roundRect">
            <a:avLst>
              <a:gd name="adj" fmla="val 8305"/>
            </a:avLst>
          </a:prstGeom>
          <a:solidFill>
            <a:srgbClr val="FFFFFF"/>
          </a:solidFill>
          <a:ln w="6350">
            <a:solidFill>
              <a:srgbClr val="E1E6E4"/>
            </a:solidFill>
            <a:prstDash val="solid"/>
          </a:ln>
          <a:effectLst>
            <a:outerShdw blurRad="152400" dist="50800" dir="5400000" algn="bl" rotWithShape="0">
              <a:srgbClr val="12233B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2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5633" y="2040601"/>
            <a:ext cx="165100" cy="1651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74233" y="2024131"/>
            <a:ext cx="113155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045633" y="2311136"/>
            <a:ext cx="5490954" cy="77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260" indent="-154813" algn="l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Invoices pushed to ORBIT</a:t>
            </a:r>
            <a:endParaRPr lang="en-US" sz="1150" dirty="0"/>
          </a:p>
          <a:p>
            <a:pPr marL="175260" indent="-154813" algn="l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WhatsApp updates to the customer</a:t>
            </a:r>
            <a:endParaRPr lang="en-US" sz="1150" dirty="0"/>
          </a:p>
          <a:p>
            <a:pPr marL="175260" indent="-154813" algn="l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Punch clock feeds attendance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15865" y="1794470"/>
            <a:ext cx="4560160" cy="1491059"/>
          </a:xfrm>
          <a:prstGeom prst="roundRect">
            <a:avLst>
              <a:gd name="adj" fmla="val 8305"/>
            </a:avLst>
          </a:prstGeom>
          <a:gradFill rotWithShape="1">
            <a:gsLst>
              <a:gs pos="0">
                <a:srgbClr val="E6EBF5"/>
              </a:gs>
              <a:gs pos="100000">
                <a:srgbClr val="DCE4F2"/>
              </a:gs>
            </a:gsLst>
            <a:lin ang="4200000" scaled="0"/>
          </a:gradFill>
          <a:ln w="6350">
            <a:solidFill>
              <a:srgbClr val="CBD8ED"/>
            </a:solidFill>
            <a:prstDash val="solid"/>
          </a:ln>
          <a:effectLst>
            <a:outerShdw blurRad="152400" dist="50800" dir="5400000" algn="bl" rotWithShape="0">
              <a:srgbClr val="204A8C">
                <a:alpha val="14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6" name="Image 3" descr="Lightbulb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45523" y="2040601"/>
            <a:ext cx="165100" cy="1651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74123" y="2024131"/>
            <a:ext cx="605102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04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045523" y="2311136"/>
            <a:ext cx="42238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system, no re-keying.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453</Words>
  <Application>Microsoft Office PowerPoint</Application>
  <PresentationFormat>Widescreen</PresentationFormat>
  <Paragraphs>84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IBM Plex Sans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Pioneer Workshop Roadmap</dc:title>
  <dc:subject>PptxGenJS Presentation</dc:subject>
  <dc:creator>PptxGenJS</dc:creator>
  <cp:lastModifiedBy>Alpana Soni</cp:lastModifiedBy>
  <cp:revision>2</cp:revision>
  <dcterms:created xsi:type="dcterms:W3CDTF">2026-09-23T07:06:43Z</dcterms:created>
  <dcterms:modified xsi:type="dcterms:W3CDTF">2026-09-23T07:10:17Z</dcterms:modified>
</cp:coreProperties>
</file>