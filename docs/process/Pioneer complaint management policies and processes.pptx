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64" r:id="rId2"/>
    <p:sldId id="363" r:id="rId3"/>
    <p:sldId id="362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3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55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2" name="S102"/>
          <p:cNvSpPr txBox="1"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4" name="S104"/>
          <p:cNvSpPr txBox="1"/>
          <p:nvPr/>
        </p:nvSpPr>
        <p:spPr>
          <a:xfrm>
            <a:off x="508000" y="804157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20" dirty="0">
                <a:solidFill>
                  <a:srgbClr val="8DC8E8"/>
                </a:solidFill>
                <a:latin typeface="Calibri"/>
              </a:rPr>
              <a:t>CUSTOMER EXPERIENCE &amp; QUALITY MANAGEMENT </a:t>
            </a:r>
          </a:p>
        </p:txBody>
      </p:sp>
      <p:sp>
        <p:nvSpPr>
          <p:cNvPr id="105" name="S105"/>
          <p:cNvSpPr txBox="1"/>
          <p:nvPr/>
        </p:nvSpPr>
        <p:spPr>
          <a:xfrm>
            <a:off x="508000" y="1210557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Complaint management</a:t>
            </a:r>
          </a:p>
        </p:txBody>
      </p:sp>
      <p:sp>
        <p:nvSpPr>
          <p:cNvPr id="106" name="S106"/>
          <p:cNvSpPr txBox="1"/>
          <p:nvPr/>
        </p:nvSpPr>
        <p:spPr>
          <a:xfrm>
            <a:off x="508000" y="2023357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00A6A0"/>
                </a:solidFill>
                <a:latin typeface="Calibri"/>
              </a:rPr>
              <a:t>Policies and Processes</a:t>
            </a:r>
          </a:p>
        </p:txBody>
      </p:sp>
      <p:sp>
        <p:nvSpPr>
          <p:cNvPr id="107" name="S107"/>
          <p:cNvSpPr txBox="1"/>
          <p:nvPr/>
        </p:nvSpPr>
        <p:spPr>
          <a:xfrm>
            <a:off x="508000" y="3089033"/>
            <a:ext cx="8890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8" name="S108"/>
          <p:cNvSpPr txBox="1"/>
          <p:nvPr/>
        </p:nvSpPr>
        <p:spPr>
          <a:xfrm>
            <a:off x="508000" y="3343033"/>
            <a:ext cx="1041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Pioneer Car Service Centre  ·  Mwasalat Holdings</a:t>
            </a:r>
          </a:p>
          <a:p>
            <a:pPr algn="l">
              <a:buNone/>
            </a:pPr>
            <a:r>
              <a:rPr lang="en-US" sz="1400" b="0" dirty="0">
                <a:solidFill>
                  <a:srgbClr val="8DC8E8"/>
                </a:solidFill>
                <a:latin typeface="Calibri"/>
              </a:rPr>
              <a:t>Policy, ownership, response standards, escalation and reporting</a:t>
            </a:r>
          </a:p>
        </p:txBody>
      </p:sp>
      <p:sp>
        <p:nvSpPr>
          <p:cNvPr id="109" name="S109"/>
          <p:cNvSpPr txBox="1"/>
          <p:nvPr/>
        </p:nvSpPr>
        <p:spPr>
          <a:xfrm>
            <a:off x="508000" y="4333082"/>
            <a:ext cx="2590800" cy="1066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0" name="S110"/>
          <p:cNvSpPr txBox="1"/>
          <p:nvPr/>
        </p:nvSpPr>
        <p:spPr>
          <a:xfrm>
            <a:off x="508000" y="4333082"/>
            <a:ext cx="2590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1" name="S111"/>
          <p:cNvSpPr txBox="1"/>
          <p:nvPr/>
        </p:nvSpPr>
        <p:spPr>
          <a:xfrm>
            <a:off x="711200" y="45362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1 day</a:t>
            </a:r>
          </a:p>
        </p:txBody>
      </p:sp>
      <p:sp>
        <p:nvSpPr>
          <p:cNvPr id="112" name="S112"/>
          <p:cNvSpPr txBox="1"/>
          <p:nvPr/>
        </p:nvSpPr>
        <p:spPr>
          <a:xfrm>
            <a:off x="711200" y="49426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Acknowledgement standard</a:t>
            </a:r>
          </a:p>
        </p:txBody>
      </p:sp>
      <p:sp>
        <p:nvSpPr>
          <p:cNvPr id="113" name="S113"/>
          <p:cNvSpPr txBox="1"/>
          <p:nvPr/>
        </p:nvSpPr>
        <p:spPr>
          <a:xfrm>
            <a:off x="3302000" y="4333082"/>
            <a:ext cx="2590800" cy="1066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4" name="S114"/>
          <p:cNvSpPr txBox="1"/>
          <p:nvPr/>
        </p:nvSpPr>
        <p:spPr>
          <a:xfrm>
            <a:off x="3302000" y="4333082"/>
            <a:ext cx="2590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5" name="S115"/>
          <p:cNvSpPr txBox="1"/>
          <p:nvPr/>
        </p:nvSpPr>
        <p:spPr>
          <a:xfrm>
            <a:off x="3505200" y="45362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1–5 days</a:t>
            </a:r>
          </a:p>
        </p:txBody>
      </p:sp>
      <p:sp>
        <p:nvSpPr>
          <p:cNvPr id="116" name="S116"/>
          <p:cNvSpPr txBox="1"/>
          <p:nvPr/>
        </p:nvSpPr>
        <p:spPr>
          <a:xfrm>
            <a:off x="3505200" y="49426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Same day where the issue allows</a:t>
            </a:r>
          </a:p>
        </p:txBody>
      </p:sp>
      <p:sp>
        <p:nvSpPr>
          <p:cNvPr id="117" name="S117"/>
          <p:cNvSpPr txBox="1"/>
          <p:nvPr/>
        </p:nvSpPr>
        <p:spPr>
          <a:xfrm>
            <a:off x="6096000" y="4333082"/>
            <a:ext cx="2590800" cy="1066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8" name="S118"/>
          <p:cNvSpPr txBox="1"/>
          <p:nvPr/>
        </p:nvSpPr>
        <p:spPr>
          <a:xfrm>
            <a:off x="6096000" y="4333082"/>
            <a:ext cx="2590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9" name="S119"/>
          <p:cNvSpPr txBox="1"/>
          <p:nvPr/>
        </p:nvSpPr>
        <p:spPr>
          <a:xfrm>
            <a:off x="6299200" y="45362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20" name="S120"/>
          <p:cNvSpPr txBox="1"/>
          <p:nvPr/>
        </p:nvSpPr>
        <p:spPr>
          <a:xfrm>
            <a:off x="6299200" y="49426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Closed with customer confirmation</a:t>
            </a:r>
          </a:p>
        </p:txBody>
      </p:sp>
      <p:sp>
        <p:nvSpPr>
          <p:cNvPr id="121" name="S121"/>
          <p:cNvSpPr txBox="1"/>
          <p:nvPr/>
        </p:nvSpPr>
        <p:spPr>
          <a:xfrm>
            <a:off x="8890000" y="4333082"/>
            <a:ext cx="2590800" cy="1066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2" name="S122"/>
          <p:cNvSpPr txBox="1"/>
          <p:nvPr/>
        </p:nvSpPr>
        <p:spPr>
          <a:xfrm>
            <a:off x="8890000" y="4333082"/>
            <a:ext cx="2590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3" name="S123"/>
          <p:cNvSpPr txBox="1"/>
          <p:nvPr/>
        </p:nvSpPr>
        <p:spPr>
          <a:xfrm>
            <a:off x="9093200" y="45362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124" name="S124"/>
          <p:cNvSpPr txBox="1"/>
          <p:nvPr/>
        </p:nvSpPr>
        <p:spPr>
          <a:xfrm>
            <a:off x="9093200" y="4942682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Reporting to the client</a:t>
            </a:r>
          </a:p>
        </p:txBody>
      </p:sp>
      <p:sp>
        <p:nvSpPr>
          <p:cNvPr id="5" name="LogoPlate">
            <a:extLst>
              <a:ext uri="{FF2B5EF4-FFF2-40B4-BE49-F238E27FC236}">
                <a16:creationId xmlns:a16="http://schemas.microsoft.com/office/drawing/2014/main" id="{32709598-AC72-6C78-6C1B-3ACD660C073E}"/>
              </a:ext>
            </a:extLst>
          </p:cNvPr>
          <p:cNvSpPr/>
          <p:nvPr/>
        </p:nvSpPr>
        <p:spPr>
          <a:xfrm>
            <a:off x="528096" y="6011919"/>
            <a:ext cx="24384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45C27-2126-33F5-1965-3161DF231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6" y="6088119"/>
            <a:ext cx="2032000" cy="38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0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 txBox="1"/>
          <p:nvPr/>
        </p:nvSpPr>
        <p:spPr>
          <a:xfrm>
            <a:off x="508000" y="4064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00" dirty="0">
                <a:solidFill>
                  <a:srgbClr val="0066B2"/>
                </a:solidFill>
                <a:latin typeface="Calibri"/>
              </a:rPr>
              <a:t>1. POLICY, SCOPE AND RESPONSE STANDARDS</a:t>
            </a:r>
          </a:p>
        </p:txBody>
      </p:sp>
      <p:sp>
        <p:nvSpPr>
          <p:cNvPr id="102" name="S102"/>
          <p:cNvSpPr txBox="1"/>
          <p:nvPr/>
        </p:nvSpPr>
        <p:spPr>
          <a:xfrm>
            <a:off x="508000" y="711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0" dirty="0">
                <a:solidFill>
                  <a:srgbClr val="5B6770"/>
                </a:solidFill>
                <a:latin typeface="Calibri"/>
              </a:rPr>
              <a:t>One policy, one log, one named owner — with committed response times</a:t>
            </a:r>
          </a:p>
        </p:txBody>
      </p:sp>
      <p:sp>
        <p:nvSpPr>
          <p:cNvPr id="103" name="S103"/>
          <p:cNvSpPr txBox="1"/>
          <p:nvPr/>
        </p:nvSpPr>
        <p:spPr>
          <a:xfrm>
            <a:off x="508000" y="1371600"/>
            <a:ext cx="812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4" name="S104"/>
          <p:cNvSpPr txBox="1"/>
          <p:nvPr/>
        </p:nvSpPr>
        <p:spPr>
          <a:xfrm>
            <a:off x="508000" y="1625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Policy principles</a:t>
            </a:r>
          </a:p>
        </p:txBody>
      </p:sp>
      <p:sp>
        <p:nvSpPr>
          <p:cNvPr id="105" name="S105"/>
          <p:cNvSpPr txBox="1"/>
          <p:nvPr/>
        </p:nvSpPr>
        <p:spPr>
          <a:xfrm>
            <a:off x="508000" y="1981200"/>
            <a:ext cx="2590800" cy="1905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6" name="S106"/>
          <p:cNvSpPr txBox="1"/>
          <p:nvPr/>
        </p:nvSpPr>
        <p:spPr>
          <a:xfrm>
            <a:off x="508000" y="1981200"/>
            <a:ext cx="38100" cy="1905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7" name="S107"/>
          <p:cNvSpPr txBox="1"/>
          <p:nvPr/>
        </p:nvSpPr>
        <p:spPr>
          <a:xfrm>
            <a:off x="711200" y="21336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01</a:t>
            </a:r>
          </a:p>
        </p:txBody>
      </p:sp>
      <p:sp>
        <p:nvSpPr>
          <p:cNvPr id="108" name="S108"/>
          <p:cNvSpPr txBox="1"/>
          <p:nvPr/>
        </p:nvSpPr>
        <p:spPr>
          <a:xfrm>
            <a:off x="711200" y="25146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/>
              </a:rPr>
              <a:t>Every complaint is recorded</a:t>
            </a:r>
          </a:p>
        </p:txBody>
      </p:sp>
      <p:sp>
        <p:nvSpPr>
          <p:cNvPr id="109" name="S109"/>
          <p:cNvSpPr txBox="1"/>
          <p:nvPr/>
        </p:nvSpPr>
        <p:spPr>
          <a:xfrm>
            <a:off x="711200" y="2997200"/>
            <a:ext cx="2184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No verbal-only handling. Each case is logged the same day with a reference number the customer can quote.</a:t>
            </a:r>
          </a:p>
        </p:txBody>
      </p:sp>
      <p:sp>
        <p:nvSpPr>
          <p:cNvPr id="110" name="S110"/>
          <p:cNvSpPr txBox="1"/>
          <p:nvPr/>
        </p:nvSpPr>
        <p:spPr>
          <a:xfrm>
            <a:off x="3302000" y="1981200"/>
            <a:ext cx="2590800" cy="1905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1" name="S111"/>
          <p:cNvSpPr txBox="1"/>
          <p:nvPr/>
        </p:nvSpPr>
        <p:spPr>
          <a:xfrm>
            <a:off x="3302000" y="1981200"/>
            <a:ext cx="38100" cy="1905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2" name="S112"/>
          <p:cNvSpPr txBox="1"/>
          <p:nvPr/>
        </p:nvSpPr>
        <p:spPr>
          <a:xfrm>
            <a:off x="3505200" y="21336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02</a:t>
            </a:r>
          </a:p>
        </p:txBody>
      </p:sp>
      <p:sp>
        <p:nvSpPr>
          <p:cNvPr id="113" name="S113"/>
          <p:cNvSpPr txBox="1"/>
          <p:nvPr/>
        </p:nvSpPr>
        <p:spPr>
          <a:xfrm>
            <a:off x="3505200" y="25146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/>
              </a:rPr>
              <a:t>One named owner</a:t>
            </a:r>
          </a:p>
        </p:txBody>
      </p:sp>
      <p:sp>
        <p:nvSpPr>
          <p:cNvPr id="114" name="S114"/>
          <p:cNvSpPr txBox="1"/>
          <p:nvPr/>
        </p:nvSpPr>
        <p:spPr>
          <a:xfrm>
            <a:off x="3505200" y="2997200"/>
            <a:ext cx="2184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Ownership is assigned by severity, never left with whoever took the call.</a:t>
            </a:r>
          </a:p>
        </p:txBody>
      </p:sp>
      <p:sp>
        <p:nvSpPr>
          <p:cNvPr id="115" name="S115"/>
          <p:cNvSpPr txBox="1"/>
          <p:nvPr/>
        </p:nvSpPr>
        <p:spPr>
          <a:xfrm>
            <a:off x="6096000" y="1981200"/>
            <a:ext cx="2590800" cy="1905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6" name="S116"/>
          <p:cNvSpPr txBox="1"/>
          <p:nvPr/>
        </p:nvSpPr>
        <p:spPr>
          <a:xfrm>
            <a:off x="6096000" y="1981200"/>
            <a:ext cx="38100" cy="1905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7" name="S117"/>
          <p:cNvSpPr txBox="1"/>
          <p:nvPr/>
        </p:nvSpPr>
        <p:spPr>
          <a:xfrm>
            <a:off x="6299200" y="21336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03</a:t>
            </a:r>
          </a:p>
        </p:txBody>
      </p:sp>
      <p:sp>
        <p:nvSpPr>
          <p:cNvPr id="118" name="S118"/>
          <p:cNvSpPr txBox="1"/>
          <p:nvPr/>
        </p:nvSpPr>
        <p:spPr>
          <a:xfrm>
            <a:off x="6299200" y="25146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/>
              </a:rPr>
              <a:t>Committed response times</a:t>
            </a:r>
          </a:p>
        </p:txBody>
      </p:sp>
      <p:sp>
        <p:nvSpPr>
          <p:cNvPr id="119" name="S119"/>
          <p:cNvSpPr txBox="1"/>
          <p:nvPr/>
        </p:nvSpPr>
        <p:spPr>
          <a:xfrm>
            <a:off x="6299200" y="2997200"/>
            <a:ext cx="2184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Acknowledged in one working day; many cases resolved the same day.</a:t>
            </a:r>
          </a:p>
        </p:txBody>
      </p:sp>
      <p:sp>
        <p:nvSpPr>
          <p:cNvPr id="120" name="S120"/>
          <p:cNvSpPr txBox="1"/>
          <p:nvPr/>
        </p:nvSpPr>
        <p:spPr>
          <a:xfrm>
            <a:off x="8890000" y="1981200"/>
            <a:ext cx="2590800" cy="1905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1" name="S121"/>
          <p:cNvSpPr txBox="1"/>
          <p:nvPr/>
        </p:nvSpPr>
        <p:spPr>
          <a:xfrm>
            <a:off x="8890000" y="1981200"/>
            <a:ext cx="38100" cy="19050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2" name="S122"/>
          <p:cNvSpPr txBox="1"/>
          <p:nvPr/>
        </p:nvSpPr>
        <p:spPr>
          <a:xfrm>
            <a:off x="9093200" y="21336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04</a:t>
            </a:r>
          </a:p>
        </p:txBody>
      </p:sp>
      <p:sp>
        <p:nvSpPr>
          <p:cNvPr id="123" name="S123"/>
          <p:cNvSpPr txBox="1"/>
          <p:nvPr/>
        </p:nvSpPr>
        <p:spPr>
          <a:xfrm>
            <a:off x="9093200" y="25146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/>
              </a:rPr>
              <a:t>Closed by the customer</a:t>
            </a:r>
          </a:p>
        </p:txBody>
      </p:sp>
      <p:sp>
        <p:nvSpPr>
          <p:cNvPr id="124" name="S124"/>
          <p:cNvSpPr txBox="1"/>
          <p:nvPr/>
        </p:nvSpPr>
        <p:spPr>
          <a:xfrm>
            <a:off x="9093200" y="2997200"/>
            <a:ext cx="2184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A case is closed only when the customer confirms the outcome, not when the work is done.</a:t>
            </a:r>
          </a:p>
        </p:txBody>
      </p:sp>
      <p:sp>
        <p:nvSpPr>
          <p:cNvPr id="125" name="S125"/>
          <p:cNvSpPr txBox="1"/>
          <p:nvPr/>
        </p:nvSpPr>
        <p:spPr>
          <a:xfrm>
            <a:off x="508000" y="4191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Scope and ownership</a:t>
            </a:r>
          </a:p>
        </p:txBody>
      </p:sp>
      <p:sp>
        <p:nvSpPr>
          <p:cNvPr id="126" name="S126"/>
          <p:cNvSpPr txBox="1"/>
          <p:nvPr/>
        </p:nvSpPr>
        <p:spPr>
          <a:xfrm>
            <a:off x="508000" y="4495800"/>
            <a:ext cx="5461000" cy="1905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7" name="S127"/>
          <p:cNvSpPr txBox="1"/>
          <p:nvPr/>
        </p:nvSpPr>
        <p:spPr>
          <a:xfrm>
            <a:off x="508000" y="4495800"/>
            <a:ext cx="38100" cy="19050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8" name="S128"/>
          <p:cNvSpPr txBox="1"/>
          <p:nvPr/>
        </p:nvSpPr>
        <p:spPr>
          <a:xfrm>
            <a:off x="736600" y="4648200"/>
            <a:ext cx="50038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8000" indent="-128000">
              <a:lnSpc>
                <a:spcPts val="14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All Pioneer workshops, service types, payment routes and complaint channels</a:t>
            </a:r>
          </a:p>
          <a:p>
            <a:pPr marL="128000" indent="-128000">
              <a:lnSpc>
                <a:spcPts val="14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Retail customers, corporate account holders and insurer-funded jobs</a:t>
            </a:r>
          </a:p>
          <a:p>
            <a:pPr marL="128000" indent="-128000">
              <a:lnSpc>
                <a:spcPts val="14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Case owner: branch manager (S1, S2) · Policy owner: Head of Customer Experience</a:t>
            </a:r>
          </a:p>
          <a:p>
            <a:pPr marL="128000" indent="-128000">
              <a:lnSpc>
                <a:spcPts val="14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System of record: complaint log against the job card, held for the contract</a:t>
            </a:r>
          </a:p>
          <a:p>
            <a:pPr marL="128000" indent="-128000">
              <a:lnSpc>
                <a:spcPts val="1400"/>
              </a:lnSpc>
              <a:spcBef>
                <a:spcPts val="2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Records open to ADNOC Distribution audit on request</a:t>
            </a:r>
          </a:p>
        </p:txBody>
      </p:sp>
      <p:sp>
        <p:nvSpPr>
          <p:cNvPr id="129" name="S129"/>
          <p:cNvSpPr txBox="1"/>
          <p:nvPr/>
        </p:nvSpPr>
        <p:spPr>
          <a:xfrm>
            <a:off x="6477000" y="4191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Response standards</a:t>
            </a:r>
          </a:p>
        </p:txBody>
      </p:sp>
      <p:sp>
        <p:nvSpPr>
          <p:cNvPr id="130" name="S130"/>
          <p:cNvSpPr txBox="1"/>
          <p:nvPr/>
        </p:nvSpPr>
        <p:spPr>
          <a:xfrm>
            <a:off x="6477000" y="4495800"/>
            <a:ext cx="5207000" cy="1905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1" name="S131"/>
          <p:cNvSpPr txBox="1"/>
          <p:nvPr/>
        </p:nvSpPr>
        <p:spPr>
          <a:xfrm>
            <a:off x="6705600" y="4673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S1 · Safety or repeat failure</a:t>
            </a:r>
          </a:p>
        </p:txBody>
      </p:sp>
      <p:sp>
        <p:nvSpPr>
          <p:cNvPr id="132" name="S132"/>
          <p:cNvSpPr txBox="1"/>
          <p:nvPr/>
        </p:nvSpPr>
        <p:spPr>
          <a:xfrm>
            <a:off x="8890000" y="4673600"/>
            <a:ext cx="261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1–2 working days · branch manager</a:t>
            </a:r>
          </a:p>
        </p:txBody>
      </p:sp>
      <p:sp>
        <p:nvSpPr>
          <p:cNvPr id="133" name="S133"/>
          <p:cNvSpPr txBox="1"/>
          <p:nvPr/>
        </p:nvSpPr>
        <p:spPr>
          <a:xfrm>
            <a:off x="6705600" y="50165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S2 · Workmanship or billing</a:t>
            </a:r>
          </a:p>
        </p:txBody>
      </p:sp>
      <p:sp>
        <p:nvSpPr>
          <p:cNvPr id="134" name="S134"/>
          <p:cNvSpPr txBox="1"/>
          <p:nvPr/>
        </p:nvSpPr>
        <p:spPr>
          <a:xfrm>
            <a:off x="8890000" y="5016500"/>
            <a:ext cx="261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3–5 working days · branch manager</a:t>
            </a:r>
          </a:p>
        </p:txBody>
      </p:sp>
      <p:sp>
        <p:nvSpPr>
          <p:cNvPr id="135" name="S135"/>
          <p:cNvSpPr txBox="1"/>
          <p:nvPr/>
        </p:nvSpPr>
        <p:spPr>
          <a:xfrm>
            <a:off x="6705600" y="5359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S3 · Conduct or information</a:t>
            </a:r>
          </a:p>
        </p:txBody>
      </p:sp>
      <p:sp>
        <p:nvSpPr>
          <p:cNvPr id="136" name="S136"/>
          <p:cNvSpPr txBox="1"/>
          <p:nvPr/>
        </p:nvSpPr>
        <p:spPr>
          <a:xfrm>
            <a:off x="8890000" y="5359400"/>
            <a:ext cx="261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2–3 working days · service advisor</a:t>
            </a:r>
          </a:p>
        </p:txBody>
      </p:sp>
      <p:sp>
        <p:nvSpPr>
          <p:cNvPr id="137" name="S137"/>
          <p:cNvSpPr txBox="1"/>
          <p:nvPr/>
        </p:nvSpPr>
        <p:spPr>
          <a:xfrm>
            <a:off x="6705600" y="57023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Same-day resolution</a:t>
            </a:r>
          </a:p>
        </p:txBody>
      </p:sp>
      <p:sp>
        <p:nvSpPr>
          <p:cNvPr id="138" name="S138"/>
          <p:cNvSpPr txBox="1"/>
          <p:nvPr/>
        </p:nvSpPr>
        <p:spPr>
          <a:xfrm>
            <a:off x="8890000" y="5702300"/>
            <a:ext cx="261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Where the nature of the issue allows</a:t>
            </a:r>
          </a:p>
        </p:txBody>
      </p:sp>
      <p:sp>
        <p:nvSpPr>
          <p:cNvPr id="139" name="S139"/>
          <p:cNvSpPr txBox="1"/>
          <p:nvPr/>
        </p:nvSpPr>
        <p:spPr>
          <a:xfrm>
            <a:off x="6705600" y="60452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Past target date</a:t>
            </a:r>
          </a:p>
        </p:txBody>
      </p:sp>
      <p:sp>
        <p:nvSpPr>
          <p:cNvPr id="140" name="S140"/>
          <p:cNvSpPr txBox="1"/>
          <p:nvPr/>
        </p:nvSpPr>
        <p:spPr>
          <a:xfrm>
            <a:off x="8890000" y="6045200"/>
            <a:ext cx="2616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8DC8E8"/>
                </a:solidFill>
                <a:latin typeface="Calibri"/>
              </a:rPr>
              <a:t>Escalates automatically, no chasing</a:t>
            </a:r>
          </a:p>
        </p:txBody>
      </p:sp>
    </p:spTree>
    <p:extLst>
      <p:ext uri="{BB962C8B-B14F-4D97-AF65-F5344CB8AC3E}">
        <p14:creationId xmlns:p14="http://schemas.microsoft.com/office/powerpoint/2010/main" val="393596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 txBox="1"/>
          <p:nvPr/>
        </p:nvSpPr>
        <p:spPr>
          <a:xfrm>
            <a:off x="508000" y="4064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00" dirty="0">
                <a:solidFill>
                  <a:srgbClr val="0066B2"/>
                </a:solidFill>
                <a:latin typeface="Calibri"/>
              </a:rPr>
              <a:t>2. PROCESS, ESCALATION AND GOVERNANCE</a:t>
            </a:r>
          </a:p>
        </p:txBody>
      </p:sp>
      <p:sp>
        <p:nvSpPr>
          <p:cNvPr id="102" name="S102"/>
          <p:cNvSpPr txBox="1"/>
          <p:nvPr/>
        </p:nvSpPr>
        <p:spPr>
          <a:xfrm>
            <a:off x="508000" y="711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0" dirty="0">
                <a:solidFill>
                  <a:srgbClr val="5B6770"/>
                </a:solidFill>
                <a:latin typeface="Calibri"/>
              </a:rPr>
              <a:t>How a complaint moves from intake to prevention — and how performance is proven</a:t>
            </a:r>
          </a:p>
        </p:txBody>
      </p:sp>
      <p:sp>
        <p:nvSpPr>
          <p:cNvPr id="103" name="S103"/>
          <p:cNvSpPr txBox="1"/>
          <p:nvPr/>
        </p:nvSpPr>
        <p:spPr>
          <a:xfrm>
            <a:off x="508000" y="1371600"/>
            <a:ext cx="812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4" name="S104"/>
          <p:cNvSpPr txBox="1"/>
          <p:nvPr/>
        </p:nvSpPr>
        <p:spPr>
          <a:xfrm>
            <a:off x="508000" y="1676400"/>
            <a:ext cx="2590800" cy="309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5" name="S105"/>
          <p:cNvSpPr txBox="1"/>
          <p:nvPr/>
        </p:nvSpPr>
        <p:spPr>
          <a:xfrm>
            <a:off x="508000" y="1676400"/>
            <a:ext cx="2590800" cy="381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6" name="S106"/>
          <p:cNvSpPr txBox="1"/>
          <p:nvPr/>
        </p:nvSpPr>
        <p:spPr>
          <a:xfrm>
            <a:off x="711200" y="18542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01</a:t>
            </a:r>
          </a:p>
        </p:txBody>
      </p:sp>
      <p:sp>
        <p:nvSpPr>
          <p:cNvPr id="107" name="S107"/>
          <p:cNvSpPr txBox="1"/>
          <p:nvPr/>
        </p:nvSpPr>
        <p:spPr>
          <a:xfrm>
            <a:off x="711200" y="2260600"/>
            <a:ext cx="218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Intake</a:t>
            </a:r>
          </a:p>
        </p:txBody>
      </p:sp>
      <p:sp>
        <p:nvSpPr>
          <p:cNvPr id="108" name="S108"/>
          <p:cNvSpPr txBox="1"/>
          <p:nvPr/>
        </p:nvSpPr>
        <p:spPr>
          <a:xfrm>
            <a:off x="711200" y="2616200"/>
            <a:ext cx="2184400" cy="264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Counter, phone, WhatsApp, survey, insurer or corporate contact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Logged the same day with a reference number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Customer is told who owns the case</a:t>
            </a:r>
          </a:p>
        </p:txBody>
      </p:sp>
      <p:sp>
        <p:nvSpPr>
          <p:cNvPr id="109" name="S109"/>
          <p:cNvSpPr txBox="1"/>
          <p:nvPr/>
        </p:nvSpPr>
        <p:spPr>
          <a:xfrm>
            <a:off x="3111500" y="3098800"/>
            <a:ext cx="177800" cy="152400"/>
          </a:xfrm>
          <a:prstGeom prst="rightArrow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0" name="S110"/>
          <p:cNvSpPr txBox="1"/>
          <p:nvPr/>
        </p:nvSpPr>
        <p:spPr>
          <a:xfrm>
            <a:off x="3302000" y="1676400"/>
            <a:ext cx="2590800" cy="309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1" name="S111"/>
          <p:cNvSpPr txBox="1"/>
          <p:nvPr/>
        </p:nvSpPr>
        <p:spPr>
          <a:xfrm>
            <a:off x="3302000" y="1676400"/>
            <a:ext cx="2590800" cy="3810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2" name="S112"/>
          <p:cNvSpPr txBox="1"/>
          <p:nvPr/>
        </p:nvSpPr>
        <p:spPr>
          <a:xfrm>
            <a:off x="3505200" y="18542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6B2"/>
                </a:solidFill>
                <a:latin typeface="Calibri"/>
              </a:rPr>
              <a:t>02</a:t>
            </a:r>
          </a:p>
        </p:txBody>
      </p:sp>
      <p:sp>
        <p:nvSpPr>
          <p:cNvPr id="113" name="S113"/>
          <p:cNvSpPr txBox="1"/>
          <p:nvPr/>
        </p:nvSpPr>
        <p:spPr>
          <a:xfrm>
            <a:off x="3505200" y="2260600"/>
            <a:ext cx="218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Triage</a:t>
            </a:r>
          </a:p>
        </p:txBody>
      </p:sp>
      <p:sp>
        <p:nvSpPr>
          <p:cNvPr id="114" name="S114"/>
          <p:cNvSpPr txBox="1"/>
          <p:nvPr/>
        </p:nvSpPr>
        <p:spPr>
          <a:xfrm>
            <a:off x="3505200" y="2616200"/>
            <a:ext cx="2184400" cy="264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Severity assigned: S1, S2 or S3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Owner and target dates set by severity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Job card, photos and QC record pulled</a:t>
            </a:r>
          </a:p>
        </p:txBody>
      </p:sp>
      <p:sp>
        <p:nvSpPr>
          <p:cNvPr id="115" name="S115"/>
          <p:cNvSpPr txBox="1"/>
          <p:nvPr/>
        </p:nvSpPr>
        <p:spPr>
          <a:xfrm>
            <a:off x="5905500" y="3098800"/>
            <a:ext cx="177800" cy="152400"/>
          </a:xfrm>
          <a:prstGeom prst="rightArrow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6" name="S116"/>
          <p:cNvSpPr txBox="1"/>
          <p:nvPr/>
        </p:nvSpPr>
        <p:spPr>
          <a:xfrm>
            <a:off x="6096000" y="1676400"/>
            <a:ext cx="2590800" cy="309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7" name="S117"/>
          <p:cNvSpPr txBox="1"/>
          <p:nvPr/>
        </p:nvSpPr>
        <p:spPr>
          <a:xfrm>
            <a:off x="6096000" y="1676400"/>
            <a:ext cx="2590800" cy="38100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8" name="S118"/>
          <p:cNvSpPr txBox="1"/>
          <p:nvPr/>
        </p:nvSpPr>
        <p:spPr>
          <a:xfrm>
            <a:off x="6299200" y="18542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A6A0"/>
                </a:solidFill>
                <a:latin typeface="Calibri"/>
              </a:rPr>
              <a:t>03</a:t>
            </a:r>
          </a:p>
        </p:txBody>
      </p:sp>
      <p:sp>
        <p:nvSpPr>
          <p:cNvPr id="119" name="S119"/>
          <p:cNvSpPr txBox="1"/>
          <p:nvPr/>
        </p:nvSpPr>
        <p:spPr>
          <a:xfrm>
            <a:off x="6299200" y="2260600"/>
            <a:ext cx="218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Resolve</a:t>
            </a:r>
          </a:p>
        </p:txBody>
      </p:sp>
      <p:sp>
        <p:nvSpPr>
          <p:cNvPr id="120" name="S120"/>
          <p:cNvSpPr txBox="1"/>
          <p:nvPr/>
        </p:nvSpPr>
        <p:spPr>
          <a:xfrm>
            <a:off x="6299200" y="2616200"/>
            <a:ext cx="2184400" cy="264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Investigated against the signed estimate and QC sign-off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Remedy agreed with the customer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Rework carried at our cost where we are at fault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Decision given in writing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Straightforward issues are resolved the same working day</a:t>
            </a:r>
          </a:p>
        </p:txBody>
      </p:sp>
      <p:sp>
        <p:nvSpPr>
          <p:cNvPr id="121" name="S121"/>
          <p:cNvSpPr txBox="1"/>
          <p:nvPr/>
        </p:nvSpPr>
        <p:spPr>
          <a:xfrm>
            <a:off x="8699500" y="3098800"/>
            <a:ext cx="177800" cy="152400"/>
          </a:xfrm>
          <a:prstGeom prst="rightArrow">
            <a:avLst/>
          </a:prstGeom>
          <a:solidFill>
            <a:srgbClr val="0066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2" name="S122"/>
          <p:cNvSpPr txBox="1"/>
          <p:nvPr/>
        </p:nvSpPr>
        <p:spPr>
          <a:xfrm>
            <a:off x="8890000" y="1676400"/>
            <a:ext cx="2590800" cy="309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3" name="S123"/>
          <p:cNvSpPr txBox="1"/>
          <p:nvPr/>
        </p:nvSpPr>
        <p:spPr>
          <a:xfrm>
            <a:off x="8890000" y="1676400"/>
            <a:ext cx="2590800" cy="381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4" name="S124"/>
          <p:cNvSpPr txBox="1"/>
          <p:nvPr/>
        </p:nvSpPr>
        <p:spPr>
          <a:xfrm>
            <a:off x="9093200" y="1854200"/>
            <a:ext cx="21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E87722"/>
                </a:solidFill>
                <a:latin typeface="Calibri"/>
              </a:rPr>
              <a:t>04</a:t>
            </a:r>
          </a:p>
        </p:txBody>
      </p:sp>
      <p:sp>
        <p:nvSpPr>
          <p:cNvPr id="125" name="S125"/>
          <p:cNvSpPr txBox="1"/>
          <p:nvPr/>
        </p:nvSpPr>
        <p:spPr>
          <a:xfrm>
            <a:off x="9093200" y="2260600"/>
            <a:ext cx="218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/>
              </a:rPr>
              <a:t>Prevent</a:t>
            </a:r>
          </a:p>
        </p:txBody>
      </p:sp>
      <p:sp>
        <p:nvSpPr>
          <p:cNvPr id="126" name="S126"/>
          <p:cNvSpPr txBox="1"/>
          <p:nvPr/>
        </p:nvSpPr>
        <p:spPr>
          <a:xfrm>
            <a:off x="9093200" y="2616200"/>
            <a:ext cx="2184400" cy="264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Root cause recorded against the job card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Corrective action assigned to a named owner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Repeat causes reviewed in the monthly CX meeting</a:t>
            </a:r>
          </a:p>
          <a:p>
            <a:pPr marL="128000" indent="-128000">
              <a:lnSpc>
                <a:spcPts val="1450"/>
              </a:lnSpc>
              <a:spcBef>
                <a:spcPts val="400"/>
              </a:spcBef>
              <a:buFont typeface="Arial"/>
              <a:buChar char="•"/>
            </a:pPr>
            <a:r>
              <a:rPr lang="en-US" sz="1200" dirty="0">
                <a:solidFill>
                  <a:srgbClr val="5B6770"/>
                </a:solidFill>
                <a:latin typeface="Calibri"/>
              </a:rPr>
              <a:t>Training or process change where needed</a:t>
            </a:r>
          </a:p>
        </p:txBody>
      </p:sp>
      <p:sp>
        <p:nvSpPr>
          <p:cNvPr id="127" name="S127"/>
          <p:cNvSpPr txBox="1"/>
          <p:nvPr/>
        </p:nvSpPr>
        <p:spPr>
          <a:xfrm>
            <a:off x="508000" y="5537200"/>
            <a:ext cx="11176000" cy="660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8" name="S128"/>
          <p:cNvSpPr txBox="1"/>
          <p:nvPr/>
        </p:nvSpPr>
        <p:spPr>
          <a:xfrm>
            <a:off x="787400" y="5537200"/>
            <a:ext cx="10617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GOVERNANCE   |   Monthly complaint report by branch: volume, severity mix, acknowledgement and resolution performance, repeat complaint rate. Complaint log, photos, estimates and QC sign-off held against the job card and open to ADNOC Distribution inspection. Policy reviewed annually, or after any S1 case.</a:t>
            </a:r>
          </a:p>
        </p:txBody>
      </p:sp>
      <p:sp>
        <p:nvSpPr>
          <p:cNvPr id="129" name="S129"/>
          <p:cNvSpPr txBox="1"/>
          <p:nvPr/>
        </p:nvSpPr>
        <p:spPr>
          <a:xfrm>
            <a:off x="508000" y="63500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No case is closed until the customer confirms the outcome   ·   Escalation: service advisor → branch manager → operations manager → General Manager</a:t>
            </a:r>
          </a:p>
        </p:txBody>
      </p:sp>
      <p:sp>
        <p:nvSpPr>
          <p:cNvPr id="140" name="S140"/>
          <p:cNvSpPr txBox="1"/>
          <p:nvPr/>
        </p:nvSpPr>
        <p:spPr>
          <a:xfrm>
            <a:off x="508000" y="4927600"/>
            <a:ext cx="2590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066B2"/>
                </a:solidFill>
                <a:latin typeface="Calibri"/>
              </a:rPr>
              <a:t>Same working day</a:t>
            </a:r>
          </a:p>
        </p:txBody>
      </p:sp>
      <p:sp>
        <p:nvSpPr>
          <p:cNvPr id="141" name="S141"/>
          <p:cNvSpPr txBox="1"/>
          <p:nvPr/>
        </p:nvSpPr>
        <p:spPr>
          <a:xfrm>
            <a:off x="508000" y="51816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Complaint logged</a:t>
            </a:r>
          </a:p>
        </p:txBody>
      </p:sp>
      <p:sp>
        <p:nvSpPr>
          <p:cNvPr id="142" name="S142"/>
          <p:cNvSpPr txBox="1"/>
          <p:nvPr/>
        </p:nvSpPr>
        <p:spPr>
          <a:xfrm>
            <a:off x="3302000" y="4927600"/>
            <a:ext cx="2590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066B2"/>
                </a:solidFill>
                <a:latin typeface="Calibri"/>
              </a:rPr>
              <a:t>Within 1 working day</a:t>
            </a:r>
          </a:p>
        </p:txBody>
      </p:sp>
      <p:sp>
        <p:nvSpPr>
          <p:cNvPr id="143" name="S143"/>
          <p:cNvSpPr txBox="1"/>
          <p:nvPr/>
        </p:nvSpPr>
        <p:spPr>
          <a:xfrm>
            <a:off x="3302000" y="51816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Owner and target set</a:t>
            </a:r>
          </a:p>
        </p:txBody>
      </p:sp>
      <p:sp>
        <p:nvSpPr>
          <p:cNvPr id="144" name="S144"/>
          <p:cNvSpPr txBox="1"/>
          <p:nvPr/>
        </p:nvSpPr>
        <p:spPr>
          <a:xfrm>
            <a:off x="6096000" y="4927600"/>
            <a:ext cx="2590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066B2"/>
                </a:solidFill>
                <a:latin typeface="Calibri"/>
              </a:rPr>
              <a:t>Same day to 5 days</a:t>
            </a:r>
          </a:p>
        </p:txBody>
      </p:sp>
      <p:sp>
        <p:nvSpPr>
          <p:cNvPr id="145" name="S145"/>
          <p:cNvSpPr txBox="1"/>
          <p:nvPr/>
        </p:nvSpPr>
        <p:spPr>
          <a:xfrm>
            <a:off x="6096000" y="51816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By nature and severity</a:t>
            </a:r>
          </a:p>
        </p:txBody>
      </p:sp>
      <p:sp>
        <p:nvSpPr>
          <p:cNvPr id="146" name="S146"/>
          <p:cNvSpPr txBox="1"/>
          <p:nvPr/>
        </p:nvSpPr>
        <p:spPr>
          <a:xfrm>
            <a:off x="8890000" y="4927600"/>
            <a:ext cx="2590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066B2"/>
                </a:solidFill>
                <a:latin typeface="Calibri"/>
              </a:rPr>
              <a:t>Monthly</a:t>
            </a:r>
          </a:p>
        </p:txBody>
      </p:sp>
      <p:sp>
        <p:nvSpPr>
          <p:cNvPr id="147" name="S147"/>
          <p:cNvSpPr txBox="1"/>
          <p:nvPr/>
        </p:nvSpPr>
        <p:spPr>
          <a:xfrm>
            <a:off x="8890000" y="51816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5B6770"/>
                </a:solidFill>
                <a:latin typeface="Calibri"/>
              </a:rPr>
              <a:t>Cause review</a:t>
            </a:r>
          </a:p>
        </p:txBody>
      </p:sp>
    </p:spTree>
    <p:extLst>
      <p:ext uri="{BB962C8B-B14F-4D97-AF65-F5344CB8AC3E}">
        <p14:creationId xmlns:p14="http://schemas.microsoft.com/office/powerpoint/2010/main" val="173901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1A4B02-6E68-46D3-AAB3-5A2CF7A3E99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b9ce591-db91-4956-b990-7cc83b5ca00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520</Words>
  <Application>Microsoft Office PowerPoint</Application>
  <PresentationFormat>Widescreen</PresentationFormat>
  <Paragraphs>80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Pioneer Car Service Centre — Customer Journey</dc:title>
  <dc:subject>PptxGenJS Presentation</dc:subject>
  <dc:creator>Pioneer Car Service Centre</dc:creator>
  <cp:lastModifiedBy>Imran Riasat</cp:lastModifiedBy>
  <cp:revision>21</cp:revision>
  <dcterms:created xsi:type="dcterms:W3CDTF">2026-08-14T13:32:52Z</dcterms:created>
  <dcterms:modified xsi:type="dcterms:W3CDTF">2026-08-20T08:16:00Z</dcterms:modified>
</cp:coreProperties>
</file>